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Inter"/>
      <p:regular r:id="rId13"/>
    </p:embeddedFont>
    <p:embeddedFont>
      <p:font typeface="Inter"/>
      <p:regular r:id="rId14"/>
    </p:embeddedFont>
    <p:embeddedFont>
      <p:font typeface="Inter"/>
      <p:regular r:id="rId15"/>
    </p:embeddedFont>
    <p:embeddedFont>
      <p:font typeface="Inter"/>
      <p:regular r:id="rId16"/>
    </p:embeddedFont>
    <p:embeddedFont>
      <p:font typeface="Manrope"/>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slideLayout" Target="../slideLayouts/slideLayout5.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slideLayout" Target="../slideLayouts/slideLayout7.xml"/><Relationship Id="rId9"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78675"/>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0C0D0F"/>
                </a:solidFill>
                <a:latin typeface="Inter" pitchFamily="34" charset="0"/>
                <a:ea typeface="Inter" pitchFamily="34" charset="-122"/>
                <a:cs typeface="Inter" pitchFamily="34" charset="-120"/>
              </a:rPr>
              <a:t>AAIPL Hackathon Submission: Optimized Logic Agents</a:t>
            </a:r>
            <a:endParaRPr lang="en-US" sz="4450" dirty="0"/>
          </a:p>
        </p:txBody>
      </p:sp>
      <p:sp>
        <p:nvSpPr>
          <p:cNvPr id="4" name="Text 1"/>
          <p:cNvSpPr/>
          <p:nvPr/>
        </p:nvSpPr>
        <p:spPr>
          <a:xfrm>
            <a:off x="6280190" y="3995738"/>
            <a:ext cx="7556421" cy="1133951"/>
          </a:xfrm>
          <a:prstGeom prst="rect">
            <a:avLst/>
          </a:prstGeom>
          <a:noFill/>
          <a:ln/>
        </p:spPr>
        <p:txBody>
          <a:bodyPr wrap="square" lIns="0" tIns="0" rIns="0" bIns="0" rtlCol="0" anchor="t"/>
          <a:lstStyle/>
          <a:p>
            <a:pPr algn="l" indent="0" marL="0">
              <a:lnSpc>
                <a:spcPts val="4450"/>
              </a:lnSpc>
              <a:buNone/>
            </a:pPr>
            <a:r>
              <a:rPr lang="en-US" sz="3550" dirty="0">
                <a:solidFill>
                  <a:srgbClr val="0C0D0F"/>
                </a:solidFill>
                <a:latin typeface="Inter" pitchFamily="34" charset="0"/>
                <a:ea typeface="Inter" pitchFamily="34" charset="-122"/>
                <a:cs typeface="Inter" pitchFamily="34" charset="-120"/>
              </a:rPr>
              <a:t>Engineering a "Crash-Proof" System for High-Speed Inference</a:t>
            </a:r>
            <a:endParaRPr lang="en-US" sz="3550" dirty="0"/>
          </a:p>
        </p:txBody>
      </p:sp>
      <p:sp>
        <p:nvSpPr>
          <p:cNvPr id="5" name="Text 2"/>
          <p:cNvSpPr/>
          <p:nvPr/>
        </p:nvSpPr>
        <p:spPr>
          <a:xfrm>
            <a:off x="6280190" y="546985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55575A"/>
                </a:solidFill>
                <a:latin typeface="Manrope" pitchFamily="34" charset="0"/>
                <a:ea typeface="Manrope" pitchFamily="34" charset="-122"/>
                <a:cs typeface="Manrope" pitchFamily="34" charset="-120"/>
              </a:rPr>
              <a:t>Team Alpha(Team 108)</a:t>
            </a:r>
            <a:endParaRPr lang="en-US" sz="1750" dirty="0"/>
          </a:p>
        </p:txBody>
      </p:sp>
      <p:sp>
        <p:nvSpPr>
          <p:cNvPr id="6" name="Text 3"/>
          <p:cNvSpPr/>
          <p:nvPr/>
        </p:nvSpPr>
        <p:spPr>
          <a:xfrm>
            <a:off x="6280190" y="6087904"/>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55575A"/>
                </a:solidFill>
                <a:latin typeface="Manrope" pitchFamily="34" charset="0"/>
                <a:ea typeface="Manrope" pitchFamily="34" charset="-122"/>
                <a:cs typeface="Manrope" pitchFamily="34" charset="-120"/>
              </a:rPr>
              <a:t>February 15, 2026</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59312"/>
            <a:ext cx="9557266" cy="708779"/>
          </a:xfrm>
          <a:prstGeom prst="rect">
            <a:avLst/>
          </a:prstGeom>
          <a:noFill/>
          <a:ln/>
        </p:spPr>
        <p:txBody>
          <a:bodyPr wrap="none" lIns="0" tIns="0" rIns="0" bIns="0" rtlCol="0" anchor="t"/>
          <a:lstStyle/>
          <a:p>
            <a:pPr algn="l" indent="0" marL="0">
              <a:lnSpc>
                <a:spcPts val="5550"/>
              </a:lnSpc>
              <a:buNone/>
            </a:pPr>
            <a:r>
              <a:rPr lang="en-US" sz="4450" dirty="0">
                <a:solidFill>
                  <a:srgbClr val="0C0D0F"/>
                </a:solidFill>
                <a:latin typeface="Inter" pitchFamily="34" charset="0"/>
                <a:ea typeface="Inter" pitchFamily="34" charset="-122"/>
                <a:cs typeface="Inter" pitchFamily="34" charset="-120"/>
              </a:rPr>
              <a:t>The Challenge: Speed vs. Accuracy</a:t>
            </a:r>
            <a:endParaRPr lang="en-US" sz="4450" dirty="0"/>
          </a:p>
        </p:txBody>
      </p:sp>
      <p:sp>
        <p:nvSpPr>
          <p:cNvPr id="3" name="Shape 1"/>
          <p:cNvSpPr/>
          <p:nvPr/>
        </p:nvSpPr>
        <p:spPr>
          <a:xfrm>
            <a:off x="630436" y="2208252"/>
            <a:ext cx="6571417" cy="2484358"/>
          </a:xfrm>
          <a:prstGeom prst="roundRect">
            <a:avLst>
              <a:gd name="adj" fmla="val 13148"/>
            </a:avLst>
          </a:prstGeom>
          <a:solidFill>
            <a:srgbClr val="FFD699"/>
          </a:solidFill>
          <a:ln/>
        </p:spPr>
      </p:sp>
      <p:sp>
        <p:nvSpPr>
          <p:cNvPr id="4" name="Text 2"/>
          <p:cNvSpPr/>
          <p:nvPr/>
        </p:nvSpPr>
        <p:spPr>
          <a:xfrm>
            <a:off x="857250" y="243506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0C0D0F"/>
                </a:solidFill>
                <a:latin typeface="Inter" pitchFamily="34" charset="0"/>
                <a:ea typeface="Inter" pitchFamily="34" charset="-122"/>
                <a:cs typeface="Inter" pitchFamily="34" charset="-120"/>
              </a:rPr>
              <a:t>The Constraint</a:t>
            </a:r>
            <a:endParaRPr lang="en-US" sz="2650" dirty="0"/>
          </a:p>
        </p:txBody>
      </p:sp>
      <p:sp>
        <p:nvSpPr>
          <p:cNvPr id="5" name="Text 3"/>
          <p:cNvSpPr/>
          <p:nvPr/>
        </p:nvSpPr>
        <p:spPr>
          <a:xfrm>
            <a:off x="857250" y="3087172"/>
            <a:ext cx="6117788" cy="907018"/>
          </a:xfrm>
          <a:prstGeom prst="rect">
            <a:avLst/>
          </a:prstGeom>
          <a:noFill/>
          <a:ln/>
        </p:spPr>
        <p:txBody>
          <a:bodyPr wrap="square" lIns="0" tIns="0" rIns="0" bIns="0" rtlCol="0" anchor="t"/>
          <a:lstStyle/>
          <a:p>
            <a:pPr algn="l" indent="0" marL="0">
              <a:lnSpc>
                <a:spcPts val="3550"/>
              </a:lnSpc>
              <a:buNone/>
            </a:pPr>
            <a:r>
              <a:rPr lang="en-US" sz="2200" dirty="0">
                <a:solidFill>
                  <a:srgbClr val="000000"/>
                </a:solidFill>
                <a:latin typeface="Manrope" pitchFamily="34" charset="0"/>
                <a:ea typeface="Manrope" pitchFamily="34" charset="-122"/>
                <a:cs typeface="Manrope" pitchFamily="34" charset="-120"/>
              </a:rPr>
              <a:t>Hackathon Death Lines: </a:t>
            </a:r>
            <a:pPr algn="l" indent="0" marL="0">
              <a:lnSpc>
                <a:spcPts val="3550"/>
              </a:lnSpc>
              <a:buNone/>
            </a:pPr>
            <a:r>
              <a:rPr lang="en-US" sz="2200" b="1" dirty="0">
                <a:solidFill>
                  <a:srgbClr val="000000"/>
                </a:solidFill>
                <a:latin typeface="Manrope" pitchFamily="34" charset="0"/>
                <a:ea typeface="Manrope" pitchFamily="34" charset="-122"/>
                <a:cs typeface="Manrope" pitchFamily="34" charset="-120"/>
              </a:rPr>
              <a:t>13s</a:t>
            </a:r>
            <a:pPr algn="l" indent="0" marL="0">
              <a:lnSpc>
                <a:spcPts val="3550"/>
              </a:lnSpc>
              <a:buNone/>
            </a:pPr>
            <a:r>
              <a:rPr lang="en-US" sz="2200" dirty="0">
                <a:solidFill>
                  <a:srgbClr val="000000"/>
                </a:solidFill>
                <a:latin typeface="Manrope" pitchFamily="34" charset="0"/>
                <a:ea typeface="Manrope" pitchFamily="34" charset="-122"/>
                <a:cs typeface="Manrope" pitchFamily="34" charset="-120"/>
              </a:rPr>
              <a:t> for Questions, </a:t>
            </a:r>
            <a:pPr algn="l" indent="0" marL="0">
              <a:lnSpc>
                <a:spcPts val="3550"/>
              </a:lnSpc>
              <a:buNone/>
            </a:pPr>
            <a:r>
              <a:rPr lang="en-US" sz="2200" b="1" dirty="0">
                <a:solidFill>
                  <a:srgbClr val="000000"/>
                </a:solidFill>
                <a:latin typeface="Manrope" pitchFamily="34" charset="0"/>
                <a:ea typeface="Manrope" pitchFamily="34" charset="-122"/>
                <a:cs typeface="Manrope" pitchFamily="34" charset="-120"/>
              </a:rPr>
              <a:t>9s</a:t>
            </a:r>
            <a:pPr algn="l" indent="0" marL="0">
              <a:lnSpc>
                <a:spcPts val="3550"/>
              </a:lnSpc>
              <a:buNone/>
            </a:pPr>
            <a:r>
              <a:rPr lang="en-US" sz="2200" dirty="0">
                <a:solidFill>
                  <a:srgbClr val="000000"/>
                </a:solidFill>
                <a:latin typeface="Manrope" pitchFamily="34" charset="0"/>
                <a:ea typeface="Manrope" pitchFamily="34" charset="-122"/>
                <a:cs typeface="Manrope" pitchFamily="34" charset="-120"/>
              </a:rPr>
              <a:t> for Answers</a:t>
            </a:r>
            <a:endParaRPr lang="en-US" sz="2200" dirty="0"/>
          </a:p>
        </p:txBody>
      </p:sp>
      <p:sp>
        <p:nvSpPr>
          <p:cNvPr id="6" name="Text 4"/>
          <p:cNvSpPr/>
          <p:nvPr/>
        </p:nvSpPr>
        <p:spPr>
          <a:xfrm>
            <a:off x="857250" y="4198263"/>
            <a:ext cx="6117788" cy="290274"/>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Manrope" pitchFamily="34" charset="0"/>
                <a:ea typeface="Manrope" pitchFamily="34" charset="-122"/>
                <a:cs typeface="Manrope" pitchFamily="34" charset="-120"/>
              </a:rPr>
              <a:t>Speed is non-negotiable</a:t>
            </a:r>
            <a:endParaRPr lang="en-US" sz="1400" dirty="0"/>
          </a:p>
        </p:txBody>
      </p:sp>
      <p:sp>
        <p:nvSpPr>
          <p:cNvPr id="7" name="Text 5"/>
          <p:cNvSpPr/>
          <p:nvPr/>
        </p:nvSpPr>
        <p:spPr>
          <a:xfrm>
            <a:off x="7599521" y="243506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0C0D0F"/>
                </a:solidFill>
                <a:latin typeface="Inter" pitchFamily="34" charset="0"/>
                <a:ea typeface="Inter" pitchFamily="34" charset="-122"/>
                <a:cs typeface="Inter" pitchFamily="34" charset="-120"/>
              </a:rPr>
              <a:t>Our Philosophy</a:t>
            </a:r>
            <a:endParaRPr lang="en-US" sz="2650" dirty="0"/>
          </a:p>
        </p:txBody>
      </p:sp>
      <p:sp>
        <p:nvSpPr>
          <p:cNvPr id="8" name="Text 6"/>
          <p:cNvSpPr/>
          <p:nvPr/>
        </p:nvSpPr>
        <p:spPr>
          <a:xfrm>
            <a:off x="7599521" y="3087172"/>
            <a:ext cx="6244709" cy="907018"/>
          </a:xfrm>
          <a:prstGeom prst="rect">
            <a:avLst/>
          </a:prstGeom>
          <a:noFill/>
          <a:ln/>
        </p:spPr>
        <p:txBody>
          <a:bodyPr wrap="square" lIns="0" tIns="0" rIns="0" bIns="0" rtlCol="0" anchor="t"/>
          <a:lstStyle/>
          <a:p>
            <a:pPr algn="l" indent="0" marL="0">
              <a:lnSpc>
                <a:spcPts val="3550"/>
              </a:lnSpc>
              <a:buNone/>
            </a:pPr>
            <a:r>
              <a:rPr lang="en-US" sz="2200" dirty="0">
                <a:solidFill>
                  <a:srgbClr val="55575A"/>
                </a:solidFill>
                <a:latin typeface="Manrope" pitchFamily="34" charset="0"/>
                <a:ea typeface="Manrope" pitchFamily="34" charset="-122"/>
                <a:cs typeface="Manrope" pitchFamily="34" charset="-120"/>
              </a:rPr>
              <a:t>Predictability over Creativity. Time as a physics constraint.</a:t>
            </a:r>
            <a:endParaRPr lang="en-US" sz="2200" dirty="0"/>
          </a:p>
        </p:txBody>
      </p:sp>
      <p:sp>
        <p:nvSpPr>
          <p:cNvPr id="9" name="Text 7"/>
          <p:cNvSpPr/>
          <p:nvPr/>
        </p:nvSpPr>
        <p:spPr>
          <a:xfrm>
            <a:off x="7599521" y="4198263"/>
            <a:ext cx="6244709" cy="290274"/>
          </a:xfrm>
          <a:prstGeom prst="rect">
            <a:avLst/>
          </a:prstGeom>
          <a:noFill/>
          <a:ln/>
        </p:spPr>
        <p:txBody>
          <a:bodyPr wrap="none" lIns="0" tIns="0" rIns="0" bIns="0" rtlCol="0" anchor="t"/>
          <a:lstStyle/>
          <a:p>
            <a:pPr algn="l" indent="0" marL="0">
              <a:lnSpc>
                <a:spcPts val="2250"/>
              </a:lnSpc>
              <a:buNone/>
            </a:pPr>
            <a:r>
              <a:rPr lang="en-US" sz="1400" dirty="0">
                <a:solidFill>
                  <a:srgbClr val="55575A"/>
                </a:solidFill>
                <a:latin typeface="Manrope" pitchFamily="34" charset="0"/>
                <a:ea typeface="Manrope" pitchFamily="34" charset="-122"/>
                <a:cs typeface="Manrope" pitchFamily="34" charset="-120"/>
              </a:rPr>
              <a:t>GPU throughput: ~40 tokens/sec. Mathematically impossible to timeout.</a:t>
            </a:r>
            <a:endParaRPr lang="en-US" sz="1400" dirty="0"/>
          </a:p>
        </p:txBody>
      </p:sp>
      <p:sp>
        <p:nvSpPr>
          <p:cNvPr id="10" name="Shape 8"/>
          <p:cNvSpPr/>
          <p:nvPr/>
        </p:nvSpPr>
        <p:spPr>
          <a:xfrm>
            <a:off x="793790" y="5061142"/>
            <a:ext cx="13042821" cy="35957"/>
          </a:xfrm>
          <a:prstGeom prst="rect">
            <a:avLst/>
          </a:prstGeom>
          <a:solidFill>
            <a:srgbClr val="55575A">
              <a:alpha val="50000"/>
            </a:srgbClr>
          </a:solidFill>
          <a:ln/>
        </p:spPr>
      </p:sp>
      <p:sp>
        <p:nvSpPr>
          <p:cNvPr id="11" name="Text 9"/>
          <p:cNvSpPr/>
          <p:nvPr/>
        </p:nvSpPr>
        <p:spPr>
          <a:xfrm>
            <a:off x="793790" y="5437227"/>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0C0D0F"/>
                </a:solidFill>
                <a:latin typeface="Inter" pitchFamily="34" charset="0"/>
                <a:ea typeface="Inter" pitchFamily="34" charset="-122"/>
                <a:cs typeface="Inter" pitchFamily="34" charset="-120"/>
              </a:rPr>
              <a:t>The Methodology</a:t>
            </a:r>
            <a:endParaRPr lang="en-US" sz="3550" dirty="0"/>
          </a:p>
        </p:txBody>
      </p:sp>
      <p:sp>
        <p:nvSpPr>
          <p:cNvPr id="12" name="Text 10"/>
          <p:cNvSpPr/>
          <p:nvPr/>
        </p:nvSpPr>
        <p:spPr>
          <a:xfrm>
            <a:off x="793790" y="634436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Manrope" pitchFamily="34" charset="0"/>
                <a:ea typeface="Manrope" pitchFamily="34" charset="-122"/>
                <a:cs typeface="Manrope" pitchFamily="34" charset="-120"/>
              </a:rPr>
              <a:t>We engineered a system that treats time as a hard physics constraint. By calculating GPU throughput (~40 tokens/sec), we designed for zero timeouts, zero formatting errors, 100% compliance.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2149197" y="1544241"/>
            <a:ext cx="9765983" cy="467916"/>
          </a:xfrm>
          <a:prstGeom prst="rect">
            <a:avLst/>
          </a:prstGeom>
          <a:noFill/>
          <a:ln/>
        </p:spPr>
        <p:txBody>
          <a:bodyPr wrap="none" lIns="0" tIns="0" rIns="0" bIns="0" rtlCol="0" anchor="t"/>
          <a:lstStyle/>
          <a:p>
            <a:pPr algn="l" indent="0" marL="0">
              <a:lnSpc>
                <a:spcPts val="3650"/>
              </a:lnSpc>
              <a:buNone/>
            </a:pPr>
            <a:r>
              <a:rPr lang="en-US" sz="2900" dirty="0">
                <a:solidFill>
                  <a:srgbClr val="0C0D0F"/>
                </a:solidFill>
                <a:latin typeface="Inter" pitchFamily="34" charset="0"/>
                <a:ea typeface="Inter" pitchFamily="34" charset="-122"/>
                <a:cs typeface="Inter" pitchFamily="34" charset="-120"/>
              </a:rPr>
              <a:t>The Engineering Journey: Optimization Through Failure</a:t>
            </a:r>
            <a:endParaRPr lang="en-US" sz="2900" dirty="0"/>
          </a:p>
        </p:txBody>
      </p:sp>
      <p:sp>
        <p:nvSpPr>
          <p:cNvPr id="5" name="Text 2"/>
          <p:cNvSpPr/>
          <p:nvPr/>
        </p:nvSpPr>
        <p:spPr>
          <a:xfrm>
            <a:off x="2149197" y="2259211"/>
            <a:ext cx="5468541" cy="374213"/>
          </a:xfrm>
          <a:prstGeom prst="rect">
            <a:avLst/>
          </a:prstGeom>
          <a:noFill/>
          <a:ln/>
        </p:spPr>
        <p:txBody>
          <a:bodyPr wrap="none" lIns="0" tIns="0" rIns="0" bIns="0" rtlCol="0" anchor="t"/>
          <a:lstStyle/>
          <a:p>
            <a:pPr algn="l" indent="0" marL="0">
              <a:lnSpc>
                <a:spcPts val="2900"/>
              </a:lnSpc>
              <a:buNone/>
            </a:pPr>
            <a:r>
              <a:rPr lang="en-US" sz="2350" dirty="0">
                <a:solidFill>
                  <a:srgbClr val="0C0D0F"/>
                </a:solidFill>
                <a:latin typeface="Inter" pitchFamily="34" charset="0"/>
                <a:ea typeface="Inter" pitchFamily="34" charset="-122"/>
                <a:cs typeface="Inter" pitchFamily="34" charset="-120"/>
              </a:rPr>
              <a:t>Failed Experiments &amp; Lessons Learned</a:t>
            </a:r>
            <a:endParaRPr lang="en-US" sz="2350" dirty="0"/>
          </a:p>
        </p:txBody>
      </p:sp>
      <p:sp>
        <p:nvSpPr>
          <p:cNvPr id="6" name="Shape 3"/>
          <p:cNvSpPr/>
          <p:nvPr/>
        </p:nvSpPr>
        <p:spPr>
          <a:xfrm>
            <a:off x="2149197" y="2744629"/>
            <a:ext cx="2308384" cy="3829407"/>
          </a:xfrm>
          <a:prstGeom prst="roundRect">
            <a:avLst>
              <a:gd name="adj" fmla="val 5838"/>
            </a:avLst>
          </a:prstGeom>
          <a:solidFill>
            <a:srgbClr val="FFFFFF"/>
          </a:solidFill>
          <a:ln w="7620">
            <a:solidFill>
              <a:srgbClr val="FFA07A"/>
            </a:solidFill>
            <a:prstDash val="solid"/>
          </a:ln>
        </p:spPr>
      </p:sp>
      <p:sp>
        <p:nvSpPr>
          <p:cNvPr id="7" name="Shape 4"/>
          <p:cNvSpPr/>
          <p:nvPr/>
        </p:nvSpPr>
        <p:spPr>
          <a:xfrm>
            <a:off x="2306479" y="2901910"/>
            <a:ext cx="449104" cy="449104"/>
          </a:xfrm>
          <a:prstGeom prst="roundRect">
            <a:avLst>
              <a:gd name="adj" fmla="val 20358504"/>
            </a:avLst>
          </a:prstGeom>
          <a:solidFill>
            <a:srgbClr val="FFA07A"/>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29947" y="3025378"/>
            <a:ext cx="202049" cy="202049"/>
          </a:xfrm>
          <a:prstGeom prst="rect">
            <a:avLst/>
          </a:prstGeom>
        </p:spPr>
      </p:pic>
      <p:sp>
        <p:nvSpPr>
          <p:cNvPr id="9" name="Text 5"/>
          <p:cNvSpPr/>
          <p:nvPr/>
        </p:nvSpPr>
        <p:spPr>
          <a:xfrm>
            <a:off x="2306479" y="3449836"/>
            <a:ext cx="1993821" cy="701873"/>
          </a:xfrm>
          <a:prstGeom prst="rect">
            <a:avLst/>
          </a:prstGeom>
          <a:noFill/>
          <a:ln/>
        </p:spPr>
        <p:txBody>
          <a:bodyPr wrap="square" lIns="0" tIns="0" rIns="0" bIns="0" rtlCol="0" anchor="t"/>
          <a:lstStyle/>
          <a:p>
            <a:pPr algn="l" indent="0" marL="0">
              <a:lnSpc>
                <a:spcPts val="1800"/>
              </a:lnSpc>
              <a:buNone/>
            </a:pPr>
            <a:r>
              <a:rPr lang="en-US" sz="1450" dirty="0">
                <a:solidFill>
                  <a:srgbClr val="55575A"/>
                </a:solidFill>
                <a:latin typeface="Inter" pitchFamily="34" charset="0"/>
                <a:ea typeface="Inter" pitchFamily="34" charset="-122"/>
                <a:cs typeface="Inter" pitchFamily="34" charset="-120"/>
              </a:rPr>
              <a:t>The "Tensor Compiler" Trap (torch.compile)</a:t>
            </a:r>
            <a:endParaRPr lang="en-US" sz="1450" dirty="0"/>
          </a:p>
        </p:txBody>
      </p:sp>
      <p:sp>
        <p:nvSpPr>
          <p:cNvPr id="10" name="Text 6"/>
          <p:cNvSpPr/>
          <p:nvPr/>
        </p:nvSpPr>
        <p:spPr>
          <a:xfrm>
            <a:off x="2306479" y="4250531"/>
            <a:ext cx="1993821" cy="596503"/>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Hypothesis:</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"Fusing kernels would maximize GPU throughput"</a:t>
            </a:r>
            <a:endParaRPr lang="en-US" sz="1150" dirty="0"/>
          </a:p>
        </p:txBody>
      </p:sp>
      <p:sp>
        <p:nvSpPr>
          <p:cNvPr id="11" name="Text 7"/>
          <p:cNvSpPr/>
          <p:nvPr/>
        </p:nvSpPr>
        <p:spPr>
          <a:xfrm>
            <a:off x="2306479" y="4935974"/>
            <a:ext cx="1993821" cy="795338"/>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Failure Mode:</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"Warmup overhead catastrophic for dynamic input shapes. First batch: ~15s (Timeout)"</a:t>
            </a:r>
            <a:endParaRPr lang="en-US" sz="1150" dirty="0"/>
          </a:p>
        </p:txBody>
      </p:sp>
      <p:sp>
        <p:nvSpPr>
          <p:cNvPr id="12" name="Text 8"/>
          <p:cNvSpPr/>
          <p:nvPr/>
        </p:nvSpPr>
        <p:spPr>
          <a:xfrm>
            <a:off x="2306479" y="5820251"/>
            <a:ext cx="1993821" cy="596503"/>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Lesson:</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"Compiler startup latency too risky for short-lived sessions"</a:t>
            </a:r>
            <a:endParaRPr lang="en-US" sz="1150" dirty="0"/>
          </a:p>
        </p:txBody>
      </p:sp>
      <p:sp>
        <p:nvSpPr>
          <p:cNvPr id="13" name="Shape 9"/>
          <p:cNvSpPr/>
          <p:nvPr/>
        </p:nvSpPr>
        <p:spPr>
          <a:xfrm>
            <a:off x="4556403" y="2744629"/>
            <a:ext cx="2308384" cy="3829407"/>
          </a:xfrm>
          <a:prstGeom prst="roundRect">
            <a:avLst>
              <a:gd name="adj" fmla="val 5838"/>
            </a:avLst>
          </a:prstGeom>
          <a:solidFill>
            <a:srgbClr val="FFFFFF"/>
          </a:solidFill>
          <a:ln w="7620">
            <a:solidFill>
              <a:srgbClr val="FF6347"/>
            </a:solidFill>
            <a:prstDash val="solid"/>
          </a:ln>
        </p:spPr>
      </p:sp>
      <p:sp>
        <p:nvSpPr>
          <p:cNvPr id="14" name="Shape 10"/>
          <p:cNvSpPr/>
          <p:nvPr/>
        </p:nvSpPr>
        <p:spPr>
          <a:xfrm>
            <a:off x="4713684" y="2901910"/>
            <a:ext cx="449104" cy="449104"/>
          </a:xfrm>
          <a:prstGeom prst="roundRect">
            <a:avLst>
              <a:gd name="adj" fmla="val 20358504"/>
            </a:avLst>
          </a:prstGeom>
          <a:solidFill>
            <a:srgbClr val="FF6347"/>
          </a:solidFill>
          <a:ln/>
        </p:spPr>
      </p:sp>
      <p:pic>
        <p:nvPicPr>
          <p:cNvPr id="15"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37152" y="3025378"/>
            <a:ext cx="202049" cy="202049"/>
          </a:xfrm>
          <a:prstGeom prst="rect">
            <a:avLst/>
          </a:prstGeom>
        </p:spPr>
      </p:pic>
      <p:sp>
        <p:nvSpPr>
          <p:cNvPr id="16" name="Text 11"/>
          <p:cNvSpPr/>
          <p:nvPr/>
        </p:nvSpPr>
        <p:spPr>
          <a:xfrm>
            <a:off x="4713684" y="3449836"/>
            <a:ext cx="1993821" cy="467916"/>
          </a:xfrm>
          <a:prstGeom prst="rect">
            <a:avLst/>
          </a:prstGeom>
          <a:noFill/>
          <a:ln/>
        </p:spPr>
        <p:txBody>
          <a:bodyPr wrap="square" lIns="0" tIns="0" rIns="0" bIns="0" rtlCol="0" anchor="t"/>
          <a:lstStyle/>
          <a:p>
            <a:pPr algn="l" indent="0" marL="0">
              <a:lnSpc>
                <a:spcPts val="1800"/>
              </a:lnSpc>
              <a:buNone/>
            </a:pPr>
            <a:r>
              <a:rPr lang="en-US" sz="1450" dirty="0">
                <a:solidFill>
                  <a:srgbClr val="55575A"/>
                </a:solidFill>
                <a:latin typeface="Inter" pitchFamily="34" charset="0"/>
                <a:ea typeface="Inter" pitchFamily="34" charset="-122"/>
                <a:cs typeface="Inter" pitchFamily="34" charset="-120"/>
              </a:rPr>
              <a:t>Unbounded "Chain of Thought"</a:t>
            </a:r>
            <a:endParaRPr lang="en-US" sz="1450" dirty="0"/>
          </a:p>
        </p:txBody>
      </p:sp>
      <p:sp>
        <p:nvSpPr>
          <p:cNvPr id="17" name="Text 12"/>
          <p:cNvSpPr/>
          <p:nvPr/>
        </p:nvSpPr>
        <p:spPr>
          <a:xfrm>
            <a:off x="4713684" y="4016573"/>
            <a:ext cx="1993821" cy="596503"/>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Hypothesis:</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"Step-by-step reasoning increases accuracy"</a:t>
            </a:r>
            <a:endParaRPr lang="en-US" sz="1150" dirty="0"/>
          </a:p>
        </p:txBody>
      </p:sp>
      <p:sp>
        <p:nvSpPr>
          <p:cNvPr id="18" name="Text 13"/>
          <p:cNvSpPr/>
          <p:nvPr/>
        </p:nvSpPr>
        <p:spPr>
          <a:xfrm>
            <a:off x="4713684" y="4702016"/>
            <a:ext cx="1993821" cy="994172"/>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Failure Mode:</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"Model generated 400+ tokens of reasoning. Generation Time ≈ Token Count = 11s+ latency (Disqualification)"</a:t>
            </a:r>
            <a:endParaRPr lang="en-US" sz="1150" dirty="0"/>
          </a:p>
        </p:txBody>
      </p:sp>
      <p:sp>
        <p:nvSpPr>
          <p:cNvPr id="19" name="Text 14"/>
          <p:cNvSpPr/>
          <p:nvPr/>
        </p:nvSpPr>
        <p:spPr>
          <a:xfrm>
            <a:off x="4713684" y="5785128"/>
            <a:ext cx="1993821" cy="596503"/>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Lesson:</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"Cannot afford deep reasoning. Must enforce brevity"</a:t>
            </a:r>
            <a:endParaRPr lang="en-US" sz="1150" dirty="0"/>
          </a:p>
        </p:txBody>
      </p:sp>
      <p:sp>
        <p:nvSpPr>
          <p:cNvPr id="20" name="Shape 15"/>
          <p:cNvSpPr/>
          <p:nvPr/>
        </p:nvSpPr>
        <p:spPr>
          <a:xfrm>
            <a:off x="6963608" y="2744629"/>
            <a:ext cx="2308384" cy="3829407"/>
          </a:xfrm>
          <a:prstGeom prst="roundRect">
            <a:avLst>
              <a:gd name="adj" fmla="val 5838"/>
            </a:avLst>
          </a:prstGeom>
          <a:solidFill>
            <a:srgbClr val="FFFFFF"/>
          </a:solidFill>
          <a:ln w="7620">
            <a:solidFill>
              <a:srgbClr val="FF4500"/>
            </a:solidFill>
            <a:prstDash val="solid"/>
          </a:ln>
        </p:spPr>
      </p:sp>
      <p:sp>
        <p:nvSpPr>
          <p:cNvPr id="21" name="Shape 16"/>
          <p:cNvSpPr/>
          <p:nvPr/>
        </p:nvSpPr>
        <p:spPr>
          <a:xfrm>
            <a:off x="7120890" y="2901910"/>
            <a:ext cx="449104" cy="449104"/>
          </a:xfrm>
          <a:prstGeom prst="roundRect">
            <a:avLst>
              <a:gd name="adj" fmla="val 20358504"/>
            </a:avLst>
          </a:prstGeom>
          <a:solidFill>
            <a:srgbClr val="FF4500"/>
          </a:solidFill>
          <a:ln/>
        </p:spPr>
      </p:sp>
      <p:pic>
        <p:nvPicPr>
          <p:cNvPr id="2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4358" y="3025378"/>
            <a:ext cx="202049" cy="202049"/>
          </a:xfrm>
          <a:prstGeom prst="rect">
            <a:avLst/>
          </a:prstGeom>
        </p:spPr>
      </p:pic>
      <p:sp>
        <p:nvSpPr>
          <p:cNvPr id="23" name="Text 17"/>
          <p:cNvSpPr/>
          <p:nvPr/>
        </p:nvSpPr>
        <p:spPr>
          <a:xfrm>
            <a:off x="7120890" y="3449836"/>
            <a:ext cx="1993821" cy="467916"/>
          </a:xfrm>
          <a:prstGeom prst="rect">
            <a:avLst/>
          </a:prstGeom>
          <a:noFill/>
          <a:ln/>
        </p:spPr>
        <p:txBody>
          <a:bodyPr wrap="square" lIns="0" tIns="0" rIns="0" bIns="0" rtlCol="0" anchor="t"/>
          <a:lstStyle/>
          <a:p>
            <a:pPr algn="l" indent="0" marL="0">
              <a:lnSpc>
                <a:spcPts val="1800"/>
              </a:lnSpc>
              <a:buNone/>
            </a:pPr>
            <a:r>
              <a:rPr lang="en-US" sz="1450" dirty="0">
                <a:solidFill>
                  <a:srgbClr val="55575A"/>
                </a:solidFill>
                <a:latin typeface="Inter" pitchFamily="34" charset="0"/>
                <a:ea typeface="Inter" pitchFamily="34" charset="-122"/>
                <a:cs typeface="Inter" pitchFamily="34" charset="-120"/>
              </a:rPr>
              <a:t>The "Big Batch" Gamble</a:t>
            </a:r>
            <a:endParaRPr lang="en-US" sz="1450" dirty="0"/>
          </a:p>
        </p:txBody>
      </p:sp>
      <p:sp>
        <p:nvSpPr>
          <p:cNvPr id="24" name="Text 18"/>
          <p:cNvSpPr/>
          <p:nvPr/>
        </p:nvSpPr>
        <p:spPr>
          <a:xfrm>
            <a:off x="7120890" y="4016573"/>
            <a:ext cx="1993821" cy="397669"/>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Hypothesis:</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"Large batch sizes = better throughput"</a:t>
            </a:r>
            <a:endParaRPr lang="en-US" sz="1150" dirty="0"/>
          </a:p>
        </p:txBody>
      </p:sp>
      <p:sp>
        <p:nvSpPr>
          <p:cNvPr id="25" name="Text 19"/>
          <p:cNvSpPr/>
          <p:nvPr/>
        </p:nvSpPr>
        <p:spPr>
          <a:xfrm>
            <a:off x="7120890" y="4503182"/>
            <a:ext cx="1993821" cy="596503"/>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Failure Mode:</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"Straggler Effect—one slow question delayed entire batch of 10"</a:t>
            </a:r>
            <a:endParaRPr lang="en-US" sz="1150" dirty="0"/>
          </a:p>
        </p:txBody>
      </p:sp>
      <p:sp>
        <p:nvSpPr>
          <p:cNvPr id="26" name="Text 20"/>
          <p:cNvSpPr/>
          <p:nvPr/>
        </p:nvSpPr>
        <p:spPr>
          <a:xfrm>
            <a:off x="7120890" y="5188625"/>
            <a:ext cx="1993821" cy="596503"/>
          </a:xfrm>
          <a:prstGeom prst="rect">
            <a:avLst/>
          </a:prstGeom>
          <a:noFill/>
          <a:ln/>
        </p:spPr>
        <p:txBody>
          <a:bodyPr wrap="square" lIns="0" tIns="0" rIns="0" bIns="0" rtlCol="0" anchor="t"/>
          <a:lstStyle/>
          <a:p>
            <a:pPr algn="l" indent="0" marL="0">
              <a:lnSpc>
                <a:spcPts val="1550"/>
              </a:lnSpc>
              <a:buNone/>
            </a:pPr>
            <a:r>
              <a:rPr lang="en-US" sz="1150" b="1" dirty="0">
                <a:solidFill>
                  <a:srgbClr val="55575A"/>
                </a:solidFill>
                <a:latin typeface="Manrope" pitchFamily="34" charset="0"/>
                <a:ea typeface="Manrope" pitchFamily="34" charset="-122"/>
                <a:cs typeface="Manrope" pitchFamily="34" charset="-120"/>
              </a:rPr>
              <a:t>Lesson:</a:t>
            </a:r>
            <a:pPr algn="l" indent="0" marL="0">
              <a:lnSpc>
                <a:spcPts val="1550"/>
              </a:lnSpc>
              <a:buNone/>
            </a:pPr>
            <a:r>
              <a:rPr lang="en-US" sz="1150" dirty="0">
                <a:solidFill>
                  <a:srgbClr val="55575A"/>
                </a:solidFill>
                <a:latin typeface="Manrope" pitchFamily="34" charset="0"/>
                <a:ea typeface="Manrope" pitchFamily="34" charset="-122"/>
                <a:cs typeface="Manrope" pitchFamily="34" charset="-120"/>
              </a:rPr>
              <a:t> "Smaller, dynamic batches provide consistent latency"</a:t>
            </a:r>
            <a:endParaRPr lang="en-US" sz="1150" dirty="0"/>
          </a:p>
        </p:txBody>
      </p:sp>
      <p:sp>
        <p:nvSpPr>
          <p:cNvPr id="27" name="Shape 21"/>
          <p:cNvSpPr/>
          <p:nvPr/>
        </p:nvSpPr>
        <p:spPr>
          <a:xfrm>
            <a:off x="9537025" y="2160389"/>
            <a:ext cx="3059549" cy="4524851"/>
          </a:xfrm>
          <a:prstGeom prst="roundRect">
            <a:avLst>
              <a:gd name="adj" fmla="val 7048"/>
            </a:avLst>
          </a:prstGeom>
          <a:solidFill>
            <a:srgbClr val="8FE3E3"/>
          </a:solidFill>
          <a:ln/>
        </p:spPr>
      </p:sp>
      <p:sp>
        <p:nvSpPr>
          <p:cNvPr id="28" name="Text 22"/>
          <p:cNvSpPr/>
          <p:nvPr/>
        </p:nvSpPr>
        <p:spPr>
          <a:xfrm>
            <a:off x="9686687" y="2259211"/>
            <a:ext cx="2760226" cy="374213"/>
          </a:xfrm>
          <a:prstGeom prst="rect">
            <a:avLst/>
          </a:prstGeom>
          <a:noFill/>
          <a:ln/>
        </p:spPr>
        <p:txBody>
          <a:bodyPr wrap="none" lIns="0" tIns="0" rIns="0" bIns="0" rtlCol="0" anchor="t"/>
          <a:lstStyle/>
          <a:p>
            <a:pPr algn="l" indent="0" marL="0">
              <a:lnSpc>
                <a:spcPts val="2900"/>
              </a:lnSpc>
              <a:buNone/>
            </a:pPr>
            <a:r>
              <a:rPr lang="en-US" sz="2350" dirty="0">
                <a:solidFill>
                  <a:srgbClr val="0C0D0F"/>
                </a:solidFill>
                <a:latin typeface="Inter" pitchFamily="34" charset="0"/>
                <a:ea typeface="Inter" pitchFamily="34" charset="-122"/>
                <a:cs typeface="Inter" pitchFamily="34" charset="-120"/>
              </a:rPr>
              <a:t>The Pivot</a:t>
            </a:r>
            <a:endParaRPr lang="en-US" sz="2350" dirty="0"/>
          </a:p>
        </p:txBody>
      </p:sp>
      <p:sp>
        <p:nvSpPr>
          <p:cNvPr id="29" name="Text 23"/>
          <p:cNvSpPr/>
          <p:nvPr/>
        </p:nvSpPr>
        <p:spPr>
          <a:xfrm>
            <a:off x="9686687" y="2732246"/>
            <a:ext cx="2760226" cy="795338"/>
          </a:xfrm>
          <a:prstGeom prst="rect">
            <a:avLst/>
          </a:prstGeom>
          <a:noFill/>
          <a:ln/>
        </p:spPr>
        <p:txBody>
          <a:bodyPr wrap="square" lIns="0" tIns="0" rIns="0" bIns="0" rtlCol="0" anchor="t"/>
          <a:lstStyle/>
          <a:p>
            <a:pPr algn="l" indent="0" marL="0">
              <a:lnSpc>
                <a:spcPts val="1550"/>
              </a:lnSpc>
              <a:buNone/>
            </a:pPr>
            <a:r>
              <a:rPr lang="en-US" sz="1150" dirty="0">
                <a:solidFill>
                  <a:srgbClr val="000000"/>
                </a:solidFill>
                <a:latin typeface="Manrope" pitchFamily="34" charset="0"/>
                <a:ea typeface="Manrope" pitchFamily="34" charset="-122"/>
                <a:cs typeface="Manrope" pitchFamily="34" charset="-120"/>
              </a:rPr>
              <a:t>Shifted focus from </a:t>
            </a:r>
            <a:pPr algn="l" indent="0" marL="0">
              <a:lnSpc>
                <a:spcPts val="1550"/>
              </a:lnSpc>
              <a:buNone/>
            </a:pPr>
            <a:r>
              <a:rPr lang="en-US" sz="1150" b="1" dirty="0">
                <a:solidFill>
                  <a:srgbClr val="000000"/>
                </a:solidFill>
                <a:latin typeface="Manrope" pitchFamily="34" charset="0"/>
                <a:ea typeface="Manrope" pitchFamily="34" charset="-122"/>
                <a:cs typeface="Manrope" pitchFamily="34" charset="-120"/>
              </a:rPr>
              <a:t>Hardware Optimization</a:t>
            </a:r>
            <a:pPr algn="l" indent="0" marL="0">
              <a:lnSpc>
                <a:spcPts val="1550"/>
              </a:lnSpc>
              <a:buNone/>
            </a:pPr>
            <a:r>
              <a:rPr lang="en-US" sz="1150" dirty="0">
                <a:solidFill>
                  <a:srgbClr val="000000"/>
                </a:solidFill>
                <a:latin typeface="Manrope" pitchFamily="34" charset="0"/>
                <a:ea typeface="Manrope" pitchFamily="34" charset="-122"/>
                <a:cs typeface="Manrope" pitchFamily="34" charset="-120"/>
              </a:rPr>
              <a:t> (compilers) to </a:t>
            </a:r>
            <a:pPr algn="l" indent="0" marL="0">
              <a:lnSpc>
                <a:spcPts val="1550"/>
              </a:lnSpc>
              <a:buNone/>
            </a:pPr>
            <a:r>
              <a:rPr lang="en-US" sz="1150" b="1" dirty="0">
                <a:solidFill>
                  <a:srgbClr val="000000"/>
                </a:solidFill>
                <a:latin typeface="Manrope" pitchFamily="34" charset="0"/>
                <a:ea typeface="Manrope" pitchFamily="34" charset="-122"/>
                <a:cs typeface="Manrope" pitchFamily="34" charset="-120"/>
              </a:rPr>
              <a:t>Prompt Constraints</a:t>
            </a:r>
            <a:pPr algn="l" indent="0" marL="0">
              <a:lnSpc>
                <a:spcPts val="1550"/>
              </a:lnSpc>
              <a:buNone/>
            </a:pPr>
            <a:r>
              <a:rPr lang="en-US" sz="1150" dirty="0">
                <a:solidFill>
                  <a:srgbClr val="000000"/>
                </a:solidFill>
                <a:latin typeface="Manrope" pitchFamily="34" charset="0"/>
                <a:ea typeface="Manrope" pitchFamily="34" charset="-122"/>
                <a:cs typeface="Manrope" pitchFamily="34" charset="-120"/>
              </a:rPr>
              <a:t> (forcing model conciseness).</a:t>
            </a:r>
            <a:endParaRPr lang="en-US" sz="1150" dirty="0"/>
          </a:p>
        </p:txBody>
      </p:sp>
      <p:sp>
        <p:nvSpPr>
          <p:cNvPr id="30" name="Text 24"/>
          <p:cNvSpPr/>
          <p:nvPr/>
        </p:nvSpPr>
        <p:spPr>
          <a:xfrm>
            <a:off x="9686687" y="3616523"/>
            <a:ext cx="2760226" cy="397669"/>
          </a:xfrm>
          <a:prstGeom prst="rect">
            <a:avLst/>
          </a:prstGeom>
          <a:noFill/>
          <a:ln/>
        </p:spPr>
        <p:txBody>
          <a:bodyPr wrap="square" lIns="0" tIns="0" rIns="0" bIns="0" rtlCol="0" anchor="t"/>
          <a:lstStyle/>
          <a:p>
            <a:pPr algn="l" indent="0" marL="0">
              <a:lnSpc>
                <a:spcPts val="1550"/>
              </a:lnSpc>
              <a:buNone/>
            </a:pPr>
            <a:r>
              <a:rPr lang="en-US" sz="1150" dirty="0">
                <a:solidFill>
                  <a:srgbClr val="000000"/>
                </a:solidFill>
                <a:latin typeface="Manrope" pitchFamily="34" charset="0"/>
                <a:ea typeface="Manrope" pitchFamily="34" charset="-122"/>
                <a:cs typeface="Manrope" pitchFamily="34" charset="-120"/>
              </a:rPr>
              <a:t>Trade-off: Theoretical Speed → Real-World Reliability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3311604" y="538520"/>
            <a:ext cx="6408658" cy="362664"/>
          </a:xfrm>
          <a:prstGeom prst="rect">
            <a:avLst/>
          </a:prstGeom>
          <a:noFill/>
          <a:ln/>
        </p:spPr>
        <p:txBody>
          <a:bodyPr wrap="none" lIns="0" tIns="0" rIns="0" bIns="0" rtlCol="0" anchor="t"/>
          <a:lstStyle/>
          <a:p>
            <a:pPr algn="l" indent="0" marL="0">
              <a:lnSpc>
                <a:spcPts val="2850"/>
              </a:lnSpc>
              <a:buNone/>
            </a:pPr>
            <a:r>
              <a:rPr lang="en-US" sz="2250" dirty="0">
                <a:solidFill>
                  <a:srgbClr val="0C0D0F"/>
                </a:solidFill>
                <a:latin typeface="Inter" pitchFamily="34" charset="0"/>
                <a:ea typeface="Inter" pitchFamily="34" charset="-122"/>
                <a:cs typeface="Inter" pitchFamily="34" charset="-120"/>
              </a:rPr>
              <a:t>Q-Agent Strategy: The 'Negative Logic' Engine</a:t>
            </a:r>
            <a:endParaRPr lang="en-US" sz="2250" dirty="0"/>
          </a:p>
        </p:txBody>
      </p:sp>
      <p:pic>
        <p:nvPicPr>
          <p:cNvPr id="5" name="Image 1" descr="preencoded.png">    </p:cNvPr>
          <p:cNvPicPr>
            <a:picLocks noChangeAspect="1"/>
          </p:cNvPicPr>
          <p:nvPr/>
        </p:nvPicPr>
        <p:blipFill>
          <a:blip r:embed="rId2"/>
          <a:stretch>
            <a:fillRect/>
          </a:stretch>
        </p:blipFill>
        <p:spPr>
          <a:xfrm>
            <a:off x="3311604" y="990124"/>
            <a:ext cx="4003596" cy="464106"/>
          </a:xfrm>
          <a:prstGeom prst="rect">
            <a:avLst/>
          </a:prstGeom>
        </p:spPr>
      </p:pic>
      <p:sp>
        <p:nvSpPr>
          <p:cNvPr id="6" name="Text 2"/>
          <p:cNvSpPr/>
          <p:nvPr/>
        </p:nvSpPr>
        <p:spPr>
          <a:xfrm>
            <a:off x="3427571" y="1513522"/>
            <a:ext cx="1450538" cy="181213"/>
          </a:xfrm>
          <a:prstGeom prst="rect">
            <a:avLst/>
          </a:prstGeom>
          <a:noFill/>
          <a:ln/>
        </p:spPr>
        <p:txBody>
          <a:bodyPr wrap="none" lIns="0" tIns="0" rIns="0" bIns="0" rtlCol="0" anchor="t"/>
          <a:lstStyle/>
          <a:p>
            <a:pPr algn="l" indent="0" marL="0">
              <a:lnSpc>
                <a:spcPts val="1400"/>
              </a:lnSpc>
              <a:buNone/>
            </a:pPr>
            <a:r>
              <a:rPr lang="en-US" sz="1100" dirty="0">
                <a:solidFill>
                  <a:srgbClr val="55575A"/>
                </a:solidFill>
                <a:latin typeface="Inter" pitchFamily="34" charset="0"/>
                <a:ea typeface="Inter" pitchFamily="34" charset="-122"/>
                <a:cs typeface="Inter" pitchFamily="34" charset="-120"/>
              </a:rPr>
              <a:t>The Objective</a:t>
            </a:r>
            <a:endParaRPr lang="en-US" sz="1100" dirty="0"/>
          </a:p>
        </p:txBody>
      </p:sp>
      <p:sp>
        <p:nvSpPr>
          <p:cNvPr id="7" name="Text 3"/>
          <p:cNvSpPr/>
          <p:nvPr/>
        </p:nvSpPr>
        <p:spPr>
          <a:xfrm>
            <a:off x="3427571" y="1730335"/>
            <a:ext cx="3771662" cy="280749"/>
          </a:xfrm>
          <a:prstGeom prst="rect">
            <a:avLst/>
          </a:prstGeom>
          <a:noFill/>
          <a:ln/>
        </p:spPr>
        <p:txBody>
          <a:bodyPr wrap="square" lIns="0" tIns="0" rIns="0" bIns="0" rtlCol="0" anchor="t"/>
          <a:lstStyle/>
          <a:p>
            <a:pPr algn="l" indent="0" marL="0">
              <a:lnSpc>
                <a:spcPts val="1100"/>
              </a:lnSpc>
              <a:buNone/>
            </a:pPr>
            <a:r>
              <a:rPr lang="en-US" sz="900" dirty="0">
                <a:solidFill>
                  <a:srgbClr val="55575A"/>
                </a:solidFill>
                <a:latin typeface="Manrope" pitchFamily="34" charset="0"/>
                <a:ea typeface="Manrope" pitchFamily="34" charset="-122"/>
                <a:cs typeface="Manrope" pitchFamily="34" charset="-120"/>
              </a:rPr>
              <a:t>Generate high-complexity questions that force opponent to think longer, while keeping generation time short (&lt; 4.5s)</a:t>
            </a:r>
            <a:endParaRPr lang="en-US" sz="900" dirty="0"/>
          </a:p>
        </p:txBody>
      </p:sp>
      <p:pic>
        <p:nvPicPr>
          <p:cNvPr id="8" name="Image 2" descr="preencoded.png">    </p:cNvPr>
          <p:cNvPicPr>
            <a:picLocks noChangeAspect="1"/>
          </p:cNvPicPr>
          <p:nvPr/>
        </p:nvPicPr>
        <p:blipFill>
          <a:blip r:embed="rId3"/>
          <a:stretch>
            <a:fillRect/>
          </a:stretch>
        </p:blipFill>
        <p:spPr>
          <a:xfrm>
            <a:off x="7315200" y="990124"/>
            <a:ext cx="4003596" cy="464106"/>
          </a:xfrm>
          <a:prstGeom prst="rect">
            <a:avLst/>
          </a:prstGeom>
        </p:spPr>
      </p:pic>
      <p:sp>
        <p:nvSpPr>
          <p:cNvPr id="9" name="Text 4"/>
          <p:cNvSpPr/>
          <p:nvPr/>
        </p:nvSpPr>
        <p:spPr>
          <a:xfrm>
            <a:off x="7431167" y="1513522"/>
            <a:ext cx="2598896" cy="181213"/>
          </a:xfrm>
          <a:prstGeom prst="rect">
            <a:avLst/>
          </a:prstGeom>
          <a:noFill/>
          <a:ln/>
        </p:spPr>
        <p:txBody>
          <a:bodyPr wrap="none" lIns="0" tIns="0" rIns="0" bIns="0" rtlCol="0" anchor="t"/>
          <a:lstStyle/>
          <a:p>
            <a:pPr algn="l" indent="0" marL="0">
              <a:lnSpc>
                <a:spcPts val="1400"/>
              </a:lnSpc>
              <a:buNone/>
            </a:pPr>
            <a:r>
              <a:rPr lang="en-US" sz="1100" dirty="0">
                <a:solidFill>
                  <a:srgbClr val="55575A"/>
                </a:solidFill>
                <a:latin typeface="Inter" pitchFamily="34" charset="0"/>
                <a:ea typeface="Inter" pitchFamily="34" charset="-122"/>
                <a:cs typeface="Inter" pitchFamily="34" charset="-120"/>
              </a:rPr>
              <a:t>Core Technique: Negative Constraints</a:t>
            </a:r>
            <a:endParaRPr lang="en-US" sz="1100" dirty="0"/>
          </a:p>
        </p:txBody>
      </p:sp>
      <p:sp>
        <p:nvSpPr>
          <p:cNvPr id="10" name="Text 5"/>
          <p:cNvSpPr/>
          <p:nvPr/>
        </p:nvSpPr>
        <p:spPr>
          <a:xfrm>
            <a:off x="7431167" y="1730335"/>
            <a:ext cx="3771662" cy="421124"/>
          </a:xfrm>
          <a:prstGeom prst="rect">
            <a:avLst/>
          </a:prstGeom>
          <a:noFill/>
          <a:ln/>
        </p:spPr>
        <p:txBody>
          <a:bodyPr wrap="square" lIns="0" tIns="0" rIns="0" bIns="0" rtlCol="0" anchor="t"/>
          <a:lstStyle/>
          <a:p>
            <a:pPr algn="l" indent="0" marL="0">
              <a:lnSpc>
                <a:spcPts val="1100"/>
              </a:lnSpc>
              <a:buNone/>
            </a:pPr>
            <a:r>
              <a:rPr lang="en-US" sz="900" dirty="0">
                <a:solidFill>
                  <a:srgbClr val="55575A"/>
                </a:solidFill>
                <a:latin typeface="Manrope" pitchFamily="34" charset="0"/>
                <a:ea typeface="Manrope" pitchFamily="34" charset="-122"/>
                <a:cs typeface="Manrope" pitchFamily="34" charset="-120"/>
              </a:rPr>
              <a:t>Instead of simple queries ('Who sits next to A?'), generate negative logic ('Who is NOT sitting next to the person opposite A?'). Forces opponent to traverse entire logic tree to find answer.</a:t>
            </a:r>
            <a:endParaRPr lang="en-US" sz="900" dirty="0"/>
          </a:p>
        </p:txBody>
      </p:sp>
      <p:pic>
        <p:nvPicPr>
          <p:cNvPr id="11" name="Image 3" descr="preencoded.png">    </p:cNvPr>
          <p:cNvPicPr>
            <a:picLocks noChangeAspect="1"/>
          </p:cNvPicPr>
          <p:nvPr/>
        </p:nvPicPr>
        <p:blipFill>
          <a:blip r:embed="rId4"/>
          <a:stretch>
            <a:fillRect/>
          </a:stretch>
        </p:blipFill>
        <p:spPr>
          <a:xfrm>
            <a:off x="3311604" y="2267426"/>
            <a:ext cx="4003596" cy="464106"/>
          </a:xfrm>
          <a:prstGeom prst="rect">
            <a:avLst/>
          </a:prstGeom>
        </p:spPr>
      </p:pic>
      <p:sp>
        <p:nvSpPr>
          <p:cNvPr id="12" name="Text 6"/>
          <p:cNvSpPr/>
          <p:nvPr/>
        </p:nvSpPr>
        <p:spPr>
          <a:xfrm>
            <a:off x="3427571" y="2790825"/>
            <a:ext cx="2660809" cy="181213"/>
          </a:xfrm>
          <a:prstGeom prst="rect">
            <a:avLst/>
          </a:prstGeom>
          <a:noFill/>
          <a:ln/>
        </p:spPr>
        <p:txBody>
          <a:bodyPr wrap="none" lIns="0" tIns="0" rIns="0" bIns="0" rtlCol="0" anchor="t"/>
          <a:lstStyle/>
          <a:p>
            <a:pPr algn="l" indent="0" marL="0">
              <a:lnSpc>
                <a:spcPts val="1400"/>
              </a:lnSpc>
              <a:buNone/>
            </a:pPr>
            <a:r>
              <a:rPr lang="en-US" sz="1100" dirty="0">
                <a:solidFill>
                  <a:srgbClr val="55575A"/>
                </a:solidFill>
                <a:latin typeface="Inter" pitchFamily="34" charset="0"/>
                <a:ea typeface="Inter" pitchFamily="34" charset="-122"/>
                <a:cs typeface="Inter" pitchFamily="34" charset="-120"/>
              </a:rPr>
              <a:t>Safety Mechanism: Rejection Sampling</a:t>
            </a:r>
            <a:endParaRPr lang="en-US" sz="1100" dirty="0"/>
          </a:p>
        </p:txBody>
      </p:sp>
      <p:sp>
        <p:nvSpPr>
          <p:cNvPr id="13" name="Text 7"/>
          <p:cNvSpPr/>
          <p:nvPr/>
        </p:nvSpPr>
        <p:spPr>
          <a:xfrm>
            <a:off x="3427571" y="3007638"/>
            <a:ext cx="3771662" cy="421124"/>
          </a:xfrm>
          <a:prstGeom prst="rect">
            <a:avLst/>
          </a:prstGeom>
          <a:noFill/>
          <a:ln/>
        </p:spPr>
        <p:txBody>
          <a:bodyPr wrap="square" lIns="0" tIns="0" rIns="0" bIns="0" rtlCol="0" anchor="t"/>
          <a:lstStyle/>
          <a:p>
            <a:pPr algn="l" indent="0" marL="0">
              <a:lnSpc>
                <a:spcPts val="1100"/>
              </a:lnSpc>
              <a:buNone/>
            </a:pPr>
            <a:r>
              <a:rPr lang="en-US" sz="900" dirty="0">
                <a:solidFill>
                  <a:srgbClr val="55575A"/>
                </a:solidFill>
                <a:latin typeface="Manrope" pitchFamily="34" charset="0"/>
                <a:ea typeface="Manrope" pitchFamily="34" charset="-122"/>
                <a:cs typeface="Manrope" pitchFamily="34" charset="-120"/>
              </a:rPr>
              <a:t>Step 1: Generate Question. Step 2: Agent immediately solves it (Self-Check). Step 3: If (Solved Answer ≠ Generated Key) OR (Format Invalid) → DISCARD &amp; RETRY. Result: 100% Valid JSON, Zero Ambiguity.</a:t>
            </a:r>
            <a:endParaRPr lang="en-US" sz="900" dirty="0"/>
          </a:p>
        </p:txBody>
      </p:sp>
      <p:pic>
        <p:nvPicPr>
          <p:cNvPr id="14" name="Image 4" descr="preencoded.png">    </p:cNvPr>
          <p:cNvPicPr>
            <a:picLocks noChangeAspect="1"/>
          </p:cNvPicPr>
          <p:nvPr/>
        </p:nvPicPr>
        <p:blipFill>
          <a:blip r:embed="rId5"/>
          <a:stretch>
            <a:fillRect/>
          </a:stretch>
        </p:blipFill>
        <p:spPr>
          <a:xfrm>
            <a:off x="7315200" y="2267426"/>
            <a:ext cx="4003596" cy="464106"/>
          </a:xfrm>
          <a:prstGeom prst="rect">
            <a:avLst/>
          </a:prstGeom>
        </p:spPr>
      </p:pic>
      <p:sp>
        <p:nvSpPr>
          <p:cNvPr id="15" name="Text 8"/>
          <p:cNvSpPr/>
          <p:nvPr/>
        </p:nvSpPr>
        <p:spPr>
          <a:xfrm>
            <a:off x="7431167" y="2790825"/>
            <a:ext cx="1450538" cy="181213"/>
          </a:xfrm>
          <a:prstGeom prst="rect">
            <a:avLst/>
          </a:prstGeom>
          <a:noFill/>
          <a:ln/>
        </p:spPr>
        <p:txBody>
          <a:bodyPr wrap="none" lIns="0" tIns="0" rIns="0" bIns="0" rtlCol="0" anchor="t"/>
          <a:lstStyle/>
          <a:p>
            <a:pPr algn="l" indent="0" marL="0">
              <a:lnSpc>
                <a:spcPts val="1400"/>
              </a:lnSpc>
              <a:buNone/>
            </a:pPr>
            <a:r>
              <a:rPr lang="en-US" sz="1100" dirty="0">
                <a:solidFill>
                  <a:srgbClr val="55575A"/>
                </a:solidFill>
                <a:latin typeface="Inter" pitchFamily="34" charset="0"/>
                <a:ea typeface="Inter" pitchFamily="34" charset="-122"/>
                <a:cs typeface="Inter" pitchFamily="34" charset="-120"/>
              </a:rPr>
              <a:t>Performance</a:t>
            </a:r>
            <a:endParaRPr lang="en-US" sz="1100" dirty="0"/>
          </a:p>
        </p:txBody>
      </p:sp>
      <p:sp>
        <p:nvSpPr>
          <p:cNvPr id="16" name="Text 9"/>
          <p:cNvSpPr/>
          <p:nvPr/>
        </p:nvSpPr>
        <p:spPr>
          <a:xfrm>
            <a:off x="7431167" y="3007638"/>
            <a:ext cx="3771662" cy="140375"/>
          </a:xfrm>
          <a:prstGeom prst="rect">
            <a:avLst/>
          </a:prstGeom>
          <a:noFill/>
          <a:ln/>
        </p:spPr>
        <p:txBody>
          <a:bodyPr wrap="none" lIns="0" tIns="0" rIns="0" bIns="0" rtlCol="0" anchor="t"/>
          <a:lstStyle/>
          <a:p>
            <a:pPr algn="l" indent="0" marL="0">
              <a:lnSpc>
                <a:spcPts val="1100"/>
              </a:lnSpc>
              <a:buNone/>
            </a:pPr>
            <a:r>
              <a:rPr lang="en-US" sz="900" dirty="0">
                <a:solidFill>
                  <a:srgbClr val="55575A"/>
                </a:solidFill>
                <a:latin typeface="Manrope" pitchFamily="34" charset="0"/>
                <a:ea typeface="Manrope" pitchFamily="34" charset="-122"/>
                <a:cs typeface="Manrope" pitchFamily="34" charset="-120"/>
              </a:rPr>
              <a:t>Avg Time: 4.47s (Safe Buffer: ~8.5s). Tactical precision. Zero failures.</a:t>
            </a:r>
            <a:endParaRPr lang="en-US" sz="900" dirty="0"/>
          </a:p>
        </p:txBody>
      </p:sp>
      <p:sp>
        <p:nvSpPr>
          <p:cNvPr id="17" name="Text 10"/>
          <p:cNvSpPr/>
          <p:nvPr/>
        </p:nvSpPr>
        <p:spPr>
          <a:xfrm>
            <a:off x="3311604" y="3611404"/>
            <a:ext cx="8007191" cy="140375"/>
          </a:xfrm>
          <a:prstGeom prst="rect">
            <a:avLst/>
          </a:prstGeom>
          <a:noFill/>
          <a:ln/>
        </p:spPr>
        <p:txBody>
          <a:bodyPr wrap="none" lIns="0" tIns="0" rIns="0" bIns="0" rtlCol="0" anchor="t"/>
          <a:lstStyle/>
          <a:p>
            <a:pPr algn="l" indent="0" marL="0">
              <a:lnSpc>
                <a:spcPts val="1100"/>
              </a:lnSpc>
              <a:buNone/>
            </a:pPr>
            <a:r>
              <a:rPr lang="en-US" sz="900" dirty="0">
                <a:solidFill>
                  <a:srgbClr val="55575A"/>
                </a:solidFill>
                <a:latin typeface="Manrope" pitchFamily="34" charset="0"/>
                <a:ea typeface="Manrope" pitchFamily="34" charset="-122"/>
                <a:cs typeface="Manrope" pitchFamily="34" charset="-120"/>
              </a:rPr>
              <a:t>This aggressive strategy ensures our Q-Agent maintains both speed and absolute accuracy.</a:t>
            </a:r>
            <a:endParaRPr lang="en-US" sz="900" dirty="0"/>
          </a:p>
        </p:txBody>
      </p:sp>
      <p:pic>
        <p:nvPicPr>
          <p:cNvPr id="18" name="Image 5" descr="preencoded.png">    </p:cNvPr>
          <p:cNvPicPr>
            <a:picLocks noChangeAspect="1"/>
          </p:cNvPicPr>
          <p:nvPr/>
        </p:nvPicPr>
        <p:blipFill>
          <a:blip r:embed="rId6"/>
          <a:stretch>
            <a:fillRect/>
          </a:stretch>
        </p:blipFill>
        <p:spPr>
          <a:xfrm>
            <a:off x="3376255" y="3818453"/>
            <a:ext cx="7877770" cy="3872627"/>
          </a:xfrm>
          <a:prstGeom prst="rect">
            <a:avLst/>
          </a:prstGeom>
        </p:spPr>
      </p:pic>
      <p:sp>
        <p:nvSpPr>
          <p:cNvPr id="19" name="Text 11"/>
          <p:cNvSpPr/>
          <p:nvPr/>
        </p:nvSpPr>
        <p:spPr>
          <a:xfrm>
            <a:off x="7231050" y="4181011"/>
            <a:ext cx="1801599" cy="225200"/>
          </a:xfrm>
          <a:prstGeom prst="rect">
            <a:avLst/>
          </a:prstGeom>
          <a:noFill/>
          <a:ln/>
        </p:spPr>
        <p:txBody>
          <a:bodyPr wrap="none" lIns="0" tIns="0" rIns="0" bIns="0" rtlCol="0" anchor="t"/>
          <a:lstStyle/>
          <a:p>
            <a:pPr algn="l" indent="0" marL="0">
              <a:lnSpc>
                <a:spcPts val="1750"/>
              </a:lnSpc>
              <a:buNone/>
            </a:pPr>
            <a:r>
              <a:rPr lang="en-US" sz="1400" dirty="0">
                <a:solidFill>
                  <a:srgbClr val="55575A"/>
                </a:solidFill>
                <a:latin typeface="Inter" pitchFamily="34" charset="0"/>
                <a:ea typeface="Inter" pitchFamily="34" charset="-122"/>
                <a:cs typeface="Inter" pitchFamily="34" charset="-120"/>
              </a:rPr>
              <a:t>Final Answer</a:t>
            </a:r>
            <a:endParaRPr lang="en-US" sz="1400" dirty="0"/>
          </a:p>
        </p:txBody>
      </p:sp>
      <p:sp>
        <p:nvSpPr>
          <p:cNvPr id="20" name="Text 12"/>
          <p:cNvSpPr/>
          <p:nvPr/>
        </p:nvSpPr>
        <p:spPr>
          <a:xfrm>
            <a:off x="7231050" y="4470268"/>
            <a:ext cx="3643235" cy="136121"/>
          </a:xfrm>
          <a:prstGeom prst="rect">
            <a:avLst/>
          </a:prstGeom>
          <a:noFill/>
          <a:ln/>
        </p:spPr>
        <p:txBody>
          <a:bodyPr wrap="none" lIns="0" tIns="0" rIns="0" bIns="0" rtlCol="0" anchor="t"/>
          <a:lstStyle/>
          <a:p>
            <a:pPr algn="l" indent="0" marL="0">
              <a:lnSpc>
                <a:spcPts val="1050"/>
              </a:lnSpc>
              <a:buNone/>
            </a:pPr>
            <a:r>
              <a:rPr lang="en-US" sz="1100" dirty="0">
                <a:solidFill>
                  <a:srgbClr val="55575A"/>
                </a:solidFill>
                <a:latin typeface="Manrope" pitchFamily="34" charset="0"/>
                <a:ea typeface="Manrope" pitchFamily="34" charset="-122"/>
                <a:cs typeface="Manrope" pitchFamily="34" charset="-120"/>
              </a:rPr>
              <a:t>Deliver constrained response</a:t>
            </a:r>
            <a:endParaRPr lang="en-US" sz="1100" dirty="0"/>
          </a:p>
        </p:txBody>
      </p:sp>
      <p:pic>
        <p:nvPicPr>
          <p:cNvPr id="21" name="Image 6"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77227" y="4265586"/>
            <a:ext cx="256228" cy="256228"/>
          </a:xfrm>
          <a:prstGeom prst="rect">
            <a:avLst/>
          </a:prstGeom>
        </p:spPr>
      </p:pic>
      <p:sp>
        <p:nvSpPr>
          <p:cNvPr id="22" name="Text 13"/>
          <p:cNvSpPr/>
          <p:nvPr/>
        </p:nvSpPr>
        <p:spPr>
          <a:xfrm>
            <a:off x="7231050" y="5085814"/>
            <a:ext cx="1801599" cy="225200"/>
          </a:xfrm>
          <a:prstGeom prst="rect">
            <a:avLst/>
          </a:prstGeom>
          <a:noFill/>
          <a:ln/>
        </p:spPr>
        <p:txBody>
          <a:bodyPr wrap="none" lIns="0" tIns="0" rIns="0" bIns="0" rtlCol="0" anchor="t"/>
          <a:lstStyle/>
          <a:p>
            <a:pPr algn="l" indent="0" marL="0">
              <a:lnSpc>
                <a:spcPts val="1750"/>
              </a:lnSpc>
              <a:buNone/>
            </a:pPr>
            <a:r>
              <a:rPr lang="en-US" sz="1400" dirty="0">
                <a:solidFill>
                  <a:srgbClr val="55575A"/>
                </a:solidFill>
                <a:latin typeface="Inter" pitchFamily="34" charset="0"/>
                <a:ea typeface="Inter" pitchFamily="34" charset="-122"/>
                <a:cs typeface="Inter" pitchFamily="34" charset="-120"/>
              </a:rPr>
              <a:t>Apply Not B</a:t>
            </a:r>
            <a:endParaRPr lang="en-US" sz="1400" dirty="0"/>
          </a:p>
        </p:txBody>
      </p:sp>
      <p:sp>
        <p:nvSpPr>
          <p:cNvPr id="23" name="Text 14"/>
          <p:cNvSpPr/>
          <p:nvPr/>
        </p:nvSpPr>
        <p:spPr>
          <a:xfrm>
            <a:off x="7231050" y="5375071"/>
            <a:ext cx="3643235" cy="136121"/>
          </a:xfrm>
          <a:prstGeom prst="rect">
            <a:avLst/>
          </a:prstGeom>
          <a:noFill/>
          <a:ln/>
        </p:spPr>
        <p:txBody>
          <a:bodyPr wrap="none" lIns="0" tIns="0" rIns="0" bIns="0" rtlCol="0" anchor="t"/>
          <a:lstStyle/>
          <a:p>
            <a:pPr algn="l" indent="0" marL="0">
              <a:lnSpc>
                <a:spcPts val="1050"/>
              </a:lnSpc>
              <a:buNone/>
            </a:pPr>
            <a:r>
              <a:rPr lang="en-US" sz="1100" dirty="0">
                <a:solidFill>
                  <a:srgbClr val="55575A"/>
                </a:solidFill>
                <a:latin typeface="Manrope" pitchFamily="34" charset="0"/>
                <a:ea typeface="Manrope" pitchFamily="34" charset="-122"/>
                <a:cs typeface="Manrope" pitchFamily="34" charset="-120"/>
              </a:rPr>
              <a:t>Eliminate common patterns</a:t>
            </a:r>
            <a:endParaRPr lang="en-US" sz="1100" dirty="0"/>
          </a:p>
        </p:txBody>
      </p:sp>
      <p:pic>
        <p:nvPicPr>
          <p:cNvPr id="24" name="Image 7"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77227" y="5050282"/>
            <a:ext cx="256228" cy="256228"/>
          </a:xfrm>
          <a:prstGeom prst="rect">
            <a:avLst/>
          </a:prstGeom>
        </p:spPr>
      </p:pic>
      <p:sp>
        <p:nvSpPr>
          <p:cNvPr id="25" name="Text 15"/>
          <p:cNvSpPr/>
          <p:nvPr/>
        </p:nvSpPr>
        <p:spPr>
          <a:xfrm>
            <a:off x="7231050" y="5990618"/>
            <a:ext cx="1801599" cy="225200"/>
          </a:xfrm>
          <a:prstGeom prst="rect">
            <a:avLst/>
          </a:prstGeom>
          <a:noFill/>
          <a:ln/>
        </p:spPr>
        <p:txBody>
          <a:bodyPr wrap="none" lIns="0" tIns="0" rIns="0" bIns="0" rtlCol="0" anchor="t"/>
          <a:lstStyle/>
          <a:p>
            <a:pPr algn="l" indent="0" marL="0">
              <a:lnSpc>
                <a:spcPts val="1750"/>
              </a:lnSpc>
              <a:buNone/>
            </a:pPr>
            <a:r>
              <a:rPr lang="en-US" sz="1400" dirty="0">
                <a:solidFill>
                  <a:srgbClr val="55575A"/>
                </a:solidFill>
                <a:latin typeface="Inter" pitchFamily="34" charset="0"/>
                <a:ea typeface="Inter" pitchFamily="34" charset="-122"/>
                <a:cs typeface="Inter" pitchFamily="34" charset="-120"/>
              </a:rPr>
              <a:t>Apply Not A</a:t>
            </a:r>
            <a:endParaRPr lang="en-US" sz="1400" dirty="0"/>
          </a:p>
        </p:txBody>
      </p:sp>
      <p:sp>
        <p:nvSpPr>
          <p:cNvPr id="26" name="Text 16"/>
          <p:cNvSpPr/>
          <p:nvPr/>
        </p:nvSpPr>
        <p:spPr>
          <a:xfrm>
            <a:off x="7231050" y="6279874"/>
            <a:ext cx="3643235" cy="136121"/>
          </a:xfrm>
          <a:prstGeom prst="rect">
            <a:avLst/>
          </a:prstGeom>
          <a:noFill/>
          <a:ln/>
        </p:spPr>
        <p:txBody>
          <a:bodyPr wrap="none" lIns="0" tIns="0" rIns="0" bIns="0" rtlCol="0" anchor="t"/>
          <a:lstStyle/>
          <a:p>
            <a:pPr algn="l" indent="0" marL="0">
              <a:lnSpc>
                <a:spcPts val="1050"/>
              </a:lnSpc>
              <a:buNone/>
            </a:pPr>
            <a:r>
              <a:rPr lang="en-US" sz="1100" dirty="0">
                <a:solidFill>
                  <a:srgbClr val="55575A"/>
                </a:solidFill>
                <a:latin typeface="Manrope" pitchFamily="34" charset="0"/>
                <a:ea typeface="Manrope" pitchFamily="34" charset="-122"/>
                <a:cs typeface="Manrope" pitchFamily="34" charset="-120"/>
              </a:rPr>
              <a:t>Exclude obvious answers</a:t>
            </a:r>
            <a:endParaRPr lang="en-US" sz="1100" dirty="0"/>
          </a:p>
        </p:txBody>
      </p:sp>
      <p:pic>
        <p:nvPicPr>
          <p:cNvPr id="27" name="Image 8"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77227" y="5826972"/>
            <a:ext cx="256228" cy="256228"/>
          </a:xfrm>
          <a:prstGeom prst="rect">
            <a:avLst/>
          </a:prstGeom>
        </p:spPr>
      </p:pic>
      <p:sp>
        <p:nvSpPr>
          <p:cNvPr id="28" name="Text 17"/>
          <p:cNvSpPr/>
          <p:nvPr/>
        </p:nvSpPr>
        <p:spPr>
          <a:xfrm>
            <a:off x="7239057" y="6895421"/>
            <a:ext cx="1801600" cy="225200"/>
          </a:xfrm>
          <a:prstGeom prst="rect">
            <a:avLst/>
          </a:prstGeom>
          <a:noFill/>
          <a:ln/>
        </p:spPr>
        <p:txBody>
          <a:bodyPr wrap="none" lIns="0" tIns="0" rIns="0" bIns="0" rtlCol="0" anchor="t"/>
          <a:lstStyle/>
          <a:p>
            <a:pPr algn="l" indent="0" marL="0">
              <a:lnSpc>
                <a:spcPts val="1750"/>
              </a:lnSpc>
              <a:buNone/>
            </a:pPr>
            <a:r>
              <a:rPr lang="en-US" sz="1400" dirty="0">
                <a:solidFill>
                  <a:srgbClr val="55575A"/>
                </a:solidFill>
                <a:latin typeface="Inter" pitchFamily="34" charset="0"/>
                <a:ea typeface="Inter" pitchFamily="34" charset="-122"/>
                <a:cs typeface="Inter" pitchFamily="34" charset="-120"/>
              </a:rPr>
              <a:t>Initial Question</a:t>
            </a:r>
            <a:endParaRPr lang="en-US" sz="1400" dirty="0"/>
          </a:p>
        </p:txBody>
      </p:sp>
      <p:sp>
        <p:nvSpPr>
          <p:cNvPr id="29" name="Text 18"/>
          <p:cNvSpPr/>
          <p:nvPr/>
        </p:nvSpPr>
        <p:spPr>
          <a:xfrm>
            <a:off x="7239057" y="7184678"/>
            <a:ext cx="3643235" cy="136121"/>
          </a:xfrm>
          <a:prstGeom prst="rect">
            <a:avLst/>
          </a:prstGeom>
          <a:noFill/>
          <a:ln/>
        </p:spPr>
        <p:txBody>
          <a:bodyPr wrap="none" lIns="0" tIns="0" rIns="0" bIns="0" rtlCol="0" anchor="t"/>
          <a:lstStyle/>
          <a:p>
            <a:pPr algn="l" indent="0" marL="0">
              <a:lnSpc>
                <a:spcPts val="1050"/>
              </a:lnSpc>
              <a:buNone/>
            </a:pPr>
            <a:r>
              <a:rPr lang="en-US" sz="1100" dirty="0">
                <a:solidFill>
                  <a:srgbClr val="55575A"/>
                </a:solidFill>
                <a:latin typeface="Manrope" pitchFamily="34" charset="0"/>
                <a:ea typeface="Manrope" pitchFamily="34" charset="-122"/>
                <a:cs typeface="Manrope" pitchFamily="34" charset="-120"/>
              </a:rPr>
              <a:t>Pose the core query</a:t>
            </a:r>
            <a:endParaRPr lang="en-US" sz="1100" dirty="0"/>
          </a:p>
        </p:txBody>
      </p:sp>
      <p:pic>
        <p:nvPicPr>
          <p:cNvPr id="30" name="Image 9"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177227" y="6731776"/>
            <a:ext cx="256228" cy="2562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677347"/>
            <a:ext cx="9608225" cy="708779"/>
          </a:xfrm>
          <a:prstGeom prst="rect">
            <a:avLst/>
          </a:prstGeom>
          <a:noFill/>
          <a:ln/>
        </p:spPr>
        <p:txBody>
          <a:bodyPr wrap="none" lIns="0" tIns="0" rIns="0" bIns="0" rtlCol="0" anchor="t"/>
          <a:lstStyle/>
          <a:p>
            <a:pPr algn="l" indent="0" marL="0">
              <a:lnSpc>
                <a:spcPts val="5550"/>
              </a:lnSpc>
              <a:buNone/>
            </a:pPr>
            <a:r>
              <a:rPr lang="en-US" sz="4450" dirty="0">
                <a:solidFill>
                  <a:srgbClr val="0C0D0F"/>
                </a:solidFill>
                <a:latin typeface="Inter" pitchFamily="34" charset="0"/>
                <a:ea typeface="Inter" pitchFamily="34" charset="-122"/>
                <a:cs typeface="Inter" pitchFamily="34" charset="-120"/>
              </a:rPr>
              <a:t>A-Agent Strategy: The 'Strict Editor'</a:t>
            </a:r>
            <a:endParaRPr lang="en-US" sz="4450" dirty="0"/>
          </a:p>
        </p:txBody>
      </p:sp>
      <p:sp>
        <p:nvSpPr>
          <p:cNvPr id="5" name="Shape 2"/>
          <p:cNvSpPr/>
          <p:nvPr/>
        </p:nvSpPr>
        <p:spPr>
          <a:xfrm>
            <a:off x="630436" y="1726287"/>
            <a:ext cx="6571417" cy="3597593"/>
          </a:xfrm>
          <a:prstGeom prst="roundRect">
            <a:avLst>
              <a:gd name="adj" fmla="val 9079"/>
            </a:avLst>
          </a:prstGeom>
          <a:solidFill>
            <a:srgbClr val="4A90E2"/>
          </a:solidFill>
          <a:ln/>
        </p:spPr>
      </p:sp>
      <p:sp>
        <p:nvSpPr>
          <p:cNvPr id="6" name="Text 3"/>
          <p:cNvSpPr/>
          <p:nvPr/>
        </p:nvSpPr>
        <p:spPr>
          <a:xfrm>
            <a:off x="857250" y="1953101"/>
            <a:ext cx="4785955" cy="354330"/>
          </a:xfrm>
          <a:prstGeom prst="rect">
            <a:avLst/>
          </a:prstGeom>
          <a:noFill/>
          <a:ln/>
        </p:spPr>
        <p:txBody>
          <a:bodyPr wrap="none" lIns="0" tIns="0" rIns="0" bIns="0" rtlCol="0" anchor="t"/>
          <a:lstStyle/>
          <a:p>
            <a:pPr algn="l" indent="0" marL="0">
              <a:lnSpc>
                <a:spcPts val="2750"/>
              </a:lnSpc>
              <a:buNone/>
            </a:pPr>
            <a:r>
              <a:rPr lang="en-US" sz="2200" dirty="0">
                <a:solidFill>
                  <a:srgbClr val="0C0D0F"/>
                </a:solidFill>
                <a:latin typeface="Inter" pitchFamily="34" charset="0"/>
                <a:ea typeface="Inter" pitchFamily="34" charset="-122"/>
                <a:cs typeface="Inter" pitchFamily="34" charset="-120"/>
              </a:rPr>
              <a:t>The Soft Brake: Prompt Engineering</a:t>
            </a:r>
            <a:endParaRPr lang="en-US" sz="2200" dirty="0"/>
          </a:p>
        </p:txBody>
      </p:sp>
      <p:sp>
        <p:nvSpPr>
          <p:cNvPr id="7" name="Text 4"/>
          <p:cNvSpPr/>
          <p:nvPr/>
        </p:nvSpPr>
        <p:spPr>
          <a:xfrm>
            <a:off x="857250" y="2534245"/>
            <a:ext cx="611778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Objective: Survive the 9-second disqualification limit at all costs while maintaining accuracy.</a:t>
            </a:r>
            <a:endParaRPr lang="en-US" sz="1750" dirty="0"/>
          </a:p>
        </p:txBody>
      </p:sp>
      <p:sp>
        <p:nvSpPr>
          <p:cNvPr id="8" name="Text 5"/>
          <p:cNvSpPr/>
          <p:nvPr/>
        </p:nvSpPr>
        <p:spPr>
          <a:xfrm>
            <a:off x="857250" y="3464123"/>
            <a:ext cx="611778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Instruction: We explicitly prompt the model: </a:t>
            </a:r>
            <a:pPr algn="l" indent="0" marL="0">
              <a:lnSpc>
                <a:spcPts val="2850"/>
              </a:lnSpc>
              <a:buNone/>
            </a:pPr>
            <a:r>
              <a:rPr lang="en-US" sz="1750" dirty="0">
                <a:solidFill>
                  <a:srgbClr val="000000"/>
                </a:solidFill>
                <a:highlight>
                  <a:srgbClr val="3D83D5"/>
                </a:highlight>
                <a:latin typeface="Consolas" pitchFamily="34" charset="0"/>
                <a:ea typeface="Consolas" pitchFamily="34" charset="-122"/>
                <a:cs typeface="Consolas" pitchFamily="34" charset="-120"/>
              </a:rPr>
              <a:t>'Output reasoning in MAXIMUM 1 short sentence.'</a:t>
            </a:r>
            <a:endParaRPr lang="en-US" sz="1750" dirty="0"/>
          </a:p>
        </p:txBody>
      </p:sp>
      <p:sp>
        <p:nvSpPr>
          <p:cNvPr id="9" name="Text 6"/>
          <p:cNvSpPr/>
          <p:nvPr/>
        </p:nvSpPr>
        <p:spPr>
          <a:xfrm>
            <a:off x="857250" y="4394002"/>
            <a:ext cx="611778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Effect: Reduces average token count from </a:t>
            </a:r>
            <a:pPr algn="l" indent="0" marL="0">
              <a:lnSpc>
                <a:spcPts val="2850"/>
              </a:lnSpc>
              <a:buNone/>
            </a:pPr>
            <a:r>
              <a:rPr lang="en-US" sz="1750" i="1" dirty="0">
                <a:solidFill>
                  <a:srgbClr val="000000"/>
                </a:solidFill>
                <a:latin typeface="Manrope" pitchFamily="34" charset="0"/>
                <a:ea typeface="Manrope" pitchFamily="34" charset="-122"/>
                <a:cs typeface="Manrope" pitchFamily="34" charset="-120"/>
              </a:rPr>
              <a:t>\sim</a:t>
            </a:r>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400 </a:t>
            </a:r>
            <a:pPr algn="l" indent="0" marL="0">
              <a:lnSpc>
                <a:spcPts val="2850"/>
              </a:lnSpc>
              <a:buNone/>
            </a:pPr>
            <a:r>
              <a:rPr lang="en-US" sz="1750" i="1" dirty="0">
                <a:solidFill>
                  <a:srgbClr val="000000"/>
                </a:solidFill>
                <a:latin typeface="Manrope" pitchFamily="34" charset="0"/>
                <a:ea typeface="Manrope" pitchFamily="34" charset="-122"/>
                <a:cs typeface="Manrope" pitchFamily="34" charset="-120"/>
              </a:rPr>
              <a:t>\rightarrow</a:t>
            </a:r>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 </a:t>
            </a:r>
            <a:pPr algn="l" indent="0" marL="0">
              <a:lnSpc>
                <a:spcPts val="2850"/>
              </a:lnSpc>
              <a:buNone/>
            </a:pPr>
            <a:r>
              <a:rPr lang="en-US" sz="1750" i="1" dirty="0">
                <a:solidFill>
                  <a:srgbClr val="000000"/>
                </a:solidFill>
                <a:latin typeface="Manrope" pitchFamily="34" charset="0"/>
                <a:ea typeface="Manrope" pitchFamily="34" charset="-122"/>
                <a:cs typeface="Manrope" pitchFamily="34" charset="-120"/>
              </a:rPr>
              <a:t>\sim</a:t>
            </a:r>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200. Prevents 'yapping.'</a:t>
            </a:r>
            <a:endParaRPr lang="en-US" sz="1750" dirty="0"/>
          </a:p>
        </p:txBody>
      </p:sp>
      <p:sp>
        <p:nvSpPr>
          <p:cNvPr id="10" name="Shape 7"/>
          <p:cNvSpPr/>
          <p:nvPr/>
        </p:nvSpPr>
        <p:spPr>
          <a:xfrm>
            <a:off x="7436168" y="1726287"/>
            <a:ext cx="6571417" cy="3597593"/>
          </a:xfrm>
          <a:prstGeom prst="roundRect">
            <a:avLst>
              <a:gd name="adj" fmla="val 9079"/>
            </a:avLst>
          </a:prstGeom>
          <a:solidFill>
            <a:srgbClr val="2ECC71"/>
          </a:solidFill>
          <a:ln/>
        </p:spPr>
      </p:sp>
      <p:sp>
        <p:nvSpPr>
          <p:cNvPr id="11" name="Text 8"/>
          <p:cNvSpPr/>
          <p:nvPr/>
        </p:nvSpPr>
        <p:spPr>
          <a:xfrm>
            <a:off x="7662982" y="1953101"/>
            <a:ext cx="4988719" cy="354330"/>
          </a:xfrm>
          <a:prstGeom prst="rect">
            <a:avLst/>
          </a:prstGeom>
          <a:noFill/>
          <a:ln/>
        </p:spPr>
        <p:txBody>
          <a:bodyPr wrap="none" lIns="0" tIns="0" rIns="0" bIns="0" rtlCol="0" anchor="t"/>
          <a:lstStyle/>
          <a:p>
            <a:pPr algn="l" indent="0" marL="0">
              <a:lnSpc>
                <a:spcPts val="2750"/>
              </a:lnSpc>
              <a:buNone/>
            </a:pPr>
            <a:r>
              <a:rPr lang="en-US" sz="2200" dirty="0">
                <a:solidFill>
                  <a:srgbClr val="0C0D0F"/>
                </a:solidFill>
                <a:latin typeface="Inter" pitchFamily="34" charset="0"/>
                <a:ea typeface="Inter" pitchFamily="34" charset="-122"/>
                <a:cs typeface="Inter" pitchFamily="34" charset="-120"/>
              </a:rPr>
              <a:t>The Hard Brake: Mathematical Safety</a:t>
            </a:r>
            <a:endParaRPr lang="en-US" sz="2200" dirty="0"/>
          </a:p>
        </p:txBody>
      </p:sp>
      <p:sp>
        <p:nvSpPr>
          <p:cNvPr id="12" name="Text 9"/>
          <p:cNvSpPr/>
          <p:nvPr/>
        </p:nvSpPr>
        <p:spPr>
          <a:xfrm>
            <a:off x="7662982" y="2534245"/>
            <a:ext cx="611778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The Math: GPU Throughput </a:t>
            </a:r>
            <a:pPr algn="l" indent="0" marL="0">
              <a:lnSpc>
                <a:spcPts val="2850"/>
              </a:lnSpc>
              <a:buNone/>
            </a:pPr>
            <a:r>
              <a:rPr lang="en-US" sz="1750" i="1" dirty="0">
                <a:solidFill>
                  <a:srgbClr val="000000"/>
                </a:solidFill>
                <a:latin typeface="Manrope" pitchFamily="34" charset="0"/>
                <a:ea typeface="Manrope" pitchFamily="34" charset="-122"/>
                <a:cs typeface="Manrope" pitchFamily="34" charset="-120"/>
              </a:rPr>
              <a:t>\approx</a:t>
            </a:r>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 40 tokens/sec</a:t>
            </a:r>
            <a:endParaRPr lang="en-US" sz="1750" dirty="0"/>
          </a:p>
        </p:txBody>
      </p:sp>
      <p:sp>
        <p:nvSpPr>
          <p:cNvPr id="13" name="Text 10"/>
          <p:cNvSpPr/>
          <p:nvPr/>
        </p:nvSpPr>
        <p:spPr>
          <a:xfrm>
            <a:off x="7662982" y="3101221"/>
            <a:ext cx="611778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The Limit: max_new_tokens = 300</a:t>
            </a:r>
            <a:endParaRPr lang="en-US" sz="1750" dirty="0"/>
          </a:p>
        </p:txBody>
      </p:sp>
      <p:sp>
        <p:nvSpPr>
          <p:cNvPr id="14" name="Text 11"/>
          <p:cNvSpPr/>
          <p:nvPr/>
        </p:nvSpPr>
        <p:spPr>
          <a:xfrm>
            <a:off x="7662982" y="3668197"/>
            <a:ext cx="611778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Calculation: 300 / 40 = 7.5 seconds</a:t>
            </a:r>
            <a:endParaRPr lang="en-US" sz="1750" dirty="0"/>
          </a:p>
        </p:txBody>
      </p:sp>
      <p:sp>
        <p:nvSpPr>
          <p:cNvPr id="15" name="Text 12"/>
          <p:cNvSpPr/>
          <p:nvPr/>
        </p:nvSpPr>
        <p:spPr>
          <a:xfrm>
            <a:off x="7662982" y="4235172"/>
            <a:ext cx="611778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Manrope" pitchFamily="34" charset="0"/>
                <a:ea typeface="Manrope" pitchFamily="34" charset="-122"/>
                <a:cs typeface="Manrope" pitchFamily="34" charset="-120"/>
              </a:rPr>
              <a:t>Result: Mathematically guarantees the agent cannot time out, even if it hallucinates.</a:t>
            </a:r>
            <a:endParaRPr lang="en-US" sz="1750" dirty="0"/>
          </a:p>
        </p:txBody>
      </p:sp>
      <p:sp>
        <p:nvSpPr>
          <p:cNvPr id="16" name="Text 13"/>
          <p:cNvSpPr/>
          <p:nvPr/>
        </p:nvSpPr>
        <p:spPr>
          <a:xfrm>
            <a:off x="793790" y="5664041"/>
            <a:ext cx="5367576" cy="566976"/>
          </a:xfrm>
          <a:prstGeom prst="rect">
            <a:avLst/>
          </a:prstGeom>
          <a:noFill/>
          <a:ln/>
        </p:spPr>
        <p:txBody>
          <a:bodyPr wrap="none" lIns="0" tIns="0" rIns="0" bIns="0" rtlCol="0" anchor="t"/>
          <a:lstStyle/>
          <a:p>
            <a:pPr algn="l" indent="0" marL="0">
              <a:lnSpc>
                <a:spcPts val="4450"/>
              </a:lnSpc>
              <a:buNone/>
            </a:pPr>
            <a:r>
              <a:rPr lang="en-US" sz="3550" dirty="0">
                <a:solidFill>
                  <a:srgbClr val="0C0D0F"/>
                </a:solidFill>
                <a:latin typeface="Inter" pitchFamily="34" charset="0"/>
                <a:ea typeface="Inter" pitchFamily="34" charset="-122"/>
                <a:cs typeface="Inter" pitchFamily="34" charset="-120"/>
              </a:rPr>
              <a:t>Performance &amp; Reliability</a:t>
            </a:r>
            <a:endParaRPr lang="en-US" sz="3550" dirty="0"/>
          </a:p>
        </p:txBody>
      </p:sp>
      <p:sp>
        <p:nvSpPr>
          <p:cNvPr id="17" name="Text 14"/>
          <p:cNvSpPr/>
          <p:nvPr/>
        </p:nvSpPr>
        <p:spPr>
          <a:xfrm>
            <a:off x="793790" y="657117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55575A"/>
                </a:solidFill>
                <a:latin typeface="Manrope" pitchFamily="34" charset="0"/>
                <a:ea typeface="Manrope" pitchFamily="34" charset="-122"/>
                <a:cs typeface="Manrope" pitchFamily="34" charset="-120"/>
              </a:rPr>
              <a:t>This dual-layer safety approach ensures:</a:t>
            </a:r>
            <a:endParaRPr lang="en-US" sz="1750" dirty="0"/>
          </a:p>
        </p:txBody>
      </p:sp>
      <p:sp>
        <p:nvSpPr>
          <p:cNvPr id="18" name="Text 15"/>
          <p:cNvSpPr/>
          <p:nvPr/>
        </p:nvSpPr>
        <p:spPr>
          <a:xfrm>
            <a:off x="793790" y="718923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55575A"/>
                </a:solidFill>
                <a:latin typeface="Manrope" pitchFamily="34" charset="0"/>
                <a:ea typeface="Manrope" pitchFamily="34" charset="-122"/>
                <a:cs typeface="Manrope" pitchFamily="34" charset="-120"/>
              </a:rPr>
              <a:t>Avg Speed: 7.2s | Survival Rate: 100% | Zero Disqualifications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676037" y="752118"/>
            <a:ext cx="10206990" cy="601385"/>
          </a:xfrm>
          <a:prstGeom prst="rect">
            <a:avLst/>
          </a:prstGeom>
          <a:noFill/>
          <a:ln/>
        </p:spPr>
        <p:txBody>
          <a:bodyPr wrap="none" lIns="0" tIns="0" rIns="0" bIns="0" rtlCol="0" anchor="t"/>
          <a:lstStyle/>
          <a:p>
            <a:pPr algn="l" indent="0" marL="0">
              <a:lnSpc>
                <a:spcPts val="4700"/>
              </a:lnSpc>
              <a:buNone/>
            </a:pPr>
            <a:r>
              <a:rPr lang="en-US" sz="3750" dirty="0">
                <a:solidFill>
                  <a:srgbClr val="0C0D0F"/>
                </a:solidFill>
                <a:latin typeface="Inter" pitchFamily="34" charset="0"/>
                <a:ea typeface="Inter" pitchFamily="34" charset="-122"/>
                <a:cs typeface="Inter" pitchFamily="34" charset="-120"/>
              </a:rPr>
              <a:t>Final Performance: The 'Crash-Proof' Engine</a:t>
            </a:r>
            <a:endParaRPr lang="en-US" sz="3750" dirty="0"/>
          </a:p>
        </p:txBody>
      </p:sp>
      <p:sp>
        <p:nvSpPr>
          <p:cNvPr id="5" name="Shape 2"/>
          <p:cNvSpPr/>
          <p:nvPr/>
        </p:nvSpPr>
        <p:spPr>
          <a:xfrm>
            <a:off x="537567" y="1598295"/>
            <a:ext cx="4344233" cy="4800957"/>
          </a:xfrm>
          <a:prstGeom prst="roundRect">
            <a:avLst>
              <a:gd name="adj" fmla="val 6379"/>
            </a:avLst>
          </a:prstGeom>
          <a:solidFill>
            <a:srgbClr val="00D9FF"/>
          </a:solidFill>
          <a:ln/>
        </p:spPr>
      </p:sp>
      <p:sp>
        <p:nvSpPr>
          <p:cNvPr id="6" name="Text 3"/>
          <p:cNvSpPr/>
          <p:nvPr/>
        </p:nvSpPr>
        <p:spPr>
          <a:xfrm>
            <a:off x="729972" y="1761530"/>
            <a:ext cx="2405420" cy="300633"/>
          </a:xfrm>
          <a:prstGeom prst="rect">
            <a:avLst/>
          </a:prstGeom>
          <a:noFill/>
          <a:ln/>
        </p:spPr>
        <p:txBody>
          <a:bodyPr wrap="none" lIns="0" tIns="0" rIns="0" bIns="0" rtlCol="0" anchor="t"/>
          <a:lstStyle/>
          <a:p>
            <a:pPr algn="l" indent="0" marL="0">
              <a:lnSpc>
                <a:spcPts val="2350"/>
              </a:lnSpc>
              <a:buNone/>
            </a:pPr>
            <a:r>
              <a:rPr lang="en-US" sz="1850" dirty="0">
                <a:solidFill>
                  <a:srgbClr val="0C0D0F"/>
                </a:solidFill>
                <a:latin typeface="Inter" pitchFamily="34" charset="0"/>
                <a:ea typeface="Inter" pitchFamily="34" charset="-122"/>
                <a:cs typeface="Inter" pitchFamily="34" charset="-120"/>
              </a:rPr>
              <a:t>A-Agent Speed</a:t>
            </a:r>
            <a:endParaRPr lang="en-US" sz="1850" dirty="0"/>
          </a:p>
        </p:txBody>
      </p:sp>
      <p:sp>
        <p:nvSpPr>
          <p:cNvPr id="7" name="Text 4"/>
          <p:cNvSpPr/>
          <p:nvPr/>
        </p:nvSpPr>
        <p:spPr>
          <a:xfrm>
            <a:off x="729972" y="2225397"/>
            <a:ext cx="3959423" cy="1202650"/>
          </a:xfrm>
          <a:prstGeom prst="rect">
            <a:avLst/>
          </a:prstGeom>
          <a:noFill/>
          <a:ln/>
        </p:spPr>
        <p:txBody>
          <a:bodyPr wrap="none" lIns="0" tIns="0" rIns="0" bIns="0" rtlCol="0" anchor="t"/>
          <a:lstStyle/>
          <a:p>
            <a:pPr algn="l" indent="0" marL="0">
              <a:lnSpc>
                <a:spcPts val="9450"/>
              </a:lnSpc>
              <a:buNone/>
            </a:pPr>
            <a:r>
              <a:rPr lang="en-US" sz="7550" dirty="0">
                <a:solidFill>
                  <a:srgbClr val="0C0D0F"/>
                </a:solidFill>
                <a:latin typeface="Inter" pitchFamily="34" charset="0"/>
                <a:ea typeface="Inter" pitchFamily="34" charset="-122"/>
                <a:cs typeface="Inter" pitchFamily="34" charset="-120"/>
              </a:rPr>
              <a:t>7.27s</a:t>
            </a:r>
            <a:endParaRPr lang="en-US" sz="7550" dirty="0"/>
          </a:p>
        </p:txBody>
      </p:sp>
      <p:sp>
        <p:nvSpPr>
          <p:cNvPr id="8" name="Text 5"/>
          <p:cNvSpPr/>
          <p:nvPr/>
        </p:nvSpPr>
        <p:spPr>
          <a:xfrm>
            <a:off x="729972" y="3591282"/>
            <a:ext cx="3959423" cy="227528"/>
          </a:xfrm>
          <a:prstGeom prst="rect">
            <a:avLst/>
          </a:prstGeom>
          <a:noFill/>
          <a:ln/>
        </p:spPr>
        <p:txBody>
          <a:bodyPr wrap="none" lIns="0" tIns="0" rIns="0" bIns="0" rtlCol="0" anchor="t"/>
          <a:lstStyle/>
          <a:p>
            <a:pPr algn="l" indent="0" marL="0">
              <a:lnSpc>
                <a:spcPts val="1750"/>
              </a:lnSpc>
              <a:buNone/>
            </a:pPr>
            <a:r>
              <a:rPr lang="en-US" sz="1200" dirty="0">
                <a:solidFill>
                  <a:srgbClr val="000000"/>
                </a:solidFill>
                <a:latin typeface="Manrope" pitchFamily="34" charset="0"/>
                <a:ea typeface="Manrope" pitchFamily="34" charset="-122"/>
                <a:cs typeface="Manrope" pitchFamily="34" charset="-120"/>
              </a:rPr>
              <a:t>/ 9.0s Limit</a:t>
            </a:r>
            <a:endParaRPr lang="en-US" sz="1200" dirty="0"/>
          </a:p>
        </p:txBody>
      </p:sp>
      <p:sp>
        <p:nvSpPr>
          <p:cNvPr id="9" name="Shape 6"/>
          <p:cNvSpPr/>
          <p:nvPr/>
        </p:nvSpPr>
        <p:spPr>
          <a:xfrm>
            <a:off x="729972" y="4002405"/>
            <a:ext cx="1867853" cy="342781"/>
          </a:xfrm>
          <a:prstGeom prst="roundRect">
            <a:avLst>
              <a:gd name="adj" fmla="val 40421"/>
            </a:avLst>
          </a:prstGeom>
          <a:solidFill>
            <a:srgbClr val="2ECC71"/>
          </a:solidFill>
          <a:ln/>
        </p:spPr>
      </p:sp>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344" y="4096822"/>
            <a:ext cx="153948" cy="153948"/>
          </a:xfrm>
          <a:prstGeom prst="rect">
            <a:avLst/>
          </a:prstGeom>
        </p:spPr>
      </p:pic>
      <p:sp>
        <p:nvSpPr>
          <p:cNvPr id="11" name="Text 7"/>
          <p:cNvSpPr/>
          <p:nvPr/>
        </p:nvSpPr>
        <p:spPr>
          <a:xfrm>
            <a:off x="1076206" y="4060031"/>
            <a:ext cx="1406247" cy="227528"/>
          </a:xfrm>
          <a:prstGeom prst="rect">
            <a:avLst/>
          </a:prstGeom>
          <a:noFill/>
          <a:ln/>
        </p:spPr>
        <p:txBody>
          <a:bodyPr wrap="none" lIns="0" tIns="0" rIns="0" bIns="0" rtlCol="0" anchor="t"/>
          <a:lstStyle/>
          <a:p>
            <a:pPr algn="l" indent="0" marL="0">
              <a:lnSpc>
                <a:spcPts val="1750"/>
              </a:lnSpc>
              <a:buNone/>
            </a:pPr>
            <a:r>
              <a:rPr lang="en-US" sz="1200" dirty="0">
                <a:solidFill>
                  <a:srgbClr val="000000"/>
                </a:solidFill>
                <a:latin typeface="Manrope" pitchFamily="34" charset="0"/>
                <a:ea typeface="Manrope" pitchFamily="34" charset="-122"/>
                <a:cs typeface="Manrope" pitchFamily="34" charset="-120"/>
              </a:rPr>
              <a:t>SAFE - 1.73S BUFFER</a:t>
            </a:r>
            <a:endParaRPr lang="en-US" sz="1200" dirty="0"/>
          </a:p>
        </p:txBody>
      </p:sp>
      <p:sp>
        <p:nvSpPr>
          <p:cNvPr id="12" name="Shape 8"/>
          <p:cNvSpPr/>
          <p:nvPr/>
        </p:nvSpPr>
        <p:spPr>
          <a:xfrm>
            <a:off x="5081826" y="1598295"/>
            <a:ext cx="4344233" cy="4800957"/>
          </a:xfrm>
          <a:prstGeom prst="roundRect">
            <a:avLst>
              <a:gd name="adj" fmla="val 6379"/>
            </a:avLst>
          </a:prstGeom>
          <a:solidFill>
            <a:srgbClr val="FFD700"/>
          </a:solidFill>
          <a:ln/>
        </p:spPr>
      </p:sp>
      <p:sp>
        <p:nvSpPr>
          <p:cNvPr id="13" name="Text 9"/>
          <p:cNvSpPr/>
          <p:nvPr/>
        </p:nvSpPr>
        <p:spPr>
          <a:xfrm>
            <a:off x="5274231" y="1761530"/>
            <a:ext cx="2405420" cy="300633"/>
          </a:xfrm>
          <a:prstGeom prst="rect">
            <a:avLst/>
          </a:prstGeom>
          <a:noFill/>
          <a:ln/>
        </p:spPr>
        <p:txBody>
          <a:bodyPr wrap="none" lIns="0" tIns="0" rIns="0" bIns="0" rtlCol="0" anchor="t"/>
          <a:lstStyle/>
          <a:p>
            <a:pPr algn="l" indent="0" marL="0">
              <a:lnSpc>
                <a:spcPts val="2350"/>
              </a:lnSpc>
              <a:buNone/>
            </a:pPr>
            <a:r>
              <a:rPr lang="en-US" sz="1850" dirty="0">
                <a:solidFill>
                  <a:srgbClr val="0C0D0F"/>
                </a:solidFill>
                <a:latin typeface="Inter" pitchFamily="34" charset="0"/>
                <a:ea typeface="Inter" pitchFamily="34" charset="-122"/>
                <a:cs typeface="Inter" pitchFamily="34" charset="-120"/>
              </a:rPr>
              <a:t>Q-Agent Speed</a:t>
            </a:r>
            <a:endParaRPr lang="en-US" sz="1850" dirty="0"/>
          </a:p>
        </p:txBody>
      </p:sp>
      <p:sp>
        <p:nvSpPr>
          <p:cNvPr id="14" name="Text 10"/>
          <p:cNvSpPr/>
          <p:nvPr/>
        </p:nvSpPr>
        <p:spPr>
          <a:xfrm>
            <a:off x="5274231" y="2225397"/>
            <a:ext cx="3959423" cy="1202650"/>
          </a:xfrm>
          <a:prstGeom prst="rect">
            <a:avLst/>
          </a:prstGeom>
          <a:noFill/>
          <a:ln/>
        </p:spPr>
        <p:txBody>
          <a:bodyPr wrap="none" lIns="0" tIns="0" rIns="0" bIns="0" rtlCol="0" anchor="t"/>
          <a:lstStyle/>
          <a:p>
            <a:pPr algn="l" indent="0" marL="0">
              <a:lnSpc>
                <a:spcPts val="9450"/>
              </a:lnSpc>
              <a:buNone/>
            </a:pPr>
            <a:r>
              <a:rPr lang="en-US" sz="7550" dirty="0">
                <a:solidFill>
                  <a:srgbClr val="0C0D0F"/>
                </a:solidFill>
                <a:latin typeface="Inter" pitchFamily="34" charset="0"/>
                <a:ea typeface="Inter" pitchFamily="34" charset="-122"/>
                <a:cs typeface="Inter" pitchFamily="34" charset="-120"/>
              </a:rPr>
              <a:t>4.47s</a:t>
            </a:r>
            <a:endParaRPr lang="en-US" sz="7550" dirty="0"/>
          </a:p>
        </p:txBody>
      </p:sp>
      <p:sp>
        <p:nvSpPr>
          <p:cNvPr id="15" name="Text 11"/>
          <p:cNvSpPr/>
          <p:nvPr/>
        </p:nvSpPr>
        <p:spPr>
          <a:xfrm>
            <a:off x="5274231" y="3591282"/>
            <a:ext cx="3959423" cy="227528"/>
          </a:xfrm>
          <a:prstGeom prst="rect">
            <a:avLst/>
          </a:prstGeom>
          <a:noFill/>
          <a:ln/>
        </p:spPr>
        <p:txBody>
          <a:bodyPr wrap="none" lIns="0" tIns="0" rIns="0" bIns="0" rtlCol="0" anchor="t"/>
          <a:lstStyle/>
          <a:p>
            <a:pPr algn="l" indent="0" marL="0">
              <a:lnSpc>
                <a:spcPts val="1750"/>
              </a:lnSpc>
              <a:buNone/>
            </a:pPr>
            <a:r>
              <a:rPr lang="en-US" sz="1200" dirty="0">
                <a:solidFill>
                  <a:srgbClr val="000000"/>
                </a:solidFill>
                <a:latin typeface="Manrope" pitchFamily="34" charset="0"/>
                <a:ea typeface="Manrope" pitchFamily="34" charset="-122"/>
                <a:cs typeface="Manrope" pitchFamily="34" charset="-120"/>
              </a:rPr>
              <a:t>/ 13.0s Limit</a:t>
            </a:r>
            <a:endParaRPr lang="en-US" sz="1200" dirty="0"/>
          </a:p>
        </p:txBody>
      </p:sp>
      <p:sp>
        <p:nvSpPr>
          <p:cNvPr id="16" name="Shape 12"/>
          <p:cNvSpPr/>
          <p:nvPr/>
        </p:nvSpPr>
        <p:spPr>
          <a:xfrm>
            <a:off x="5274231" y="4002405"/>
            <a:ext cx="1829753" cy="342781"/>
          </a:xfrm>
          <a:prstGeom prst="roundRect">
            <a:avLst>
              <a:gd name="adj" fmla="val 40421"/>
            </a:avLst>
          </a:prstGeom>
          <a:solidFill>
            <a:srgbClr val="2ECC71"/>
          </a:solidFill>
          <a:ln/>
        </p:spPr>
      </p:sp>
      <p:pic>
        <p:nvPicPr>
          <p:cNvPr id="1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89602" y="4096822"/>
            <a:ext cx="153948" cy="153948"/>
          </a:xfrm>
          <a:prstGeom prst="rect">
            <a:avLst/>
          </a:prstGeom>
        </p:spPr>
      </p:pic>
      <p:sp>
        <p:nvSpPr>
          <p:cNvPr id="18" name="Text 13"/>
          <p:cNvSpPr/>
          <p:nvPr/>
        </p:nvSpPr>
        <p:spPr>
          <a:xfrm>
            <a:off x="5620464" y="4060031"/>
            <a:ext cx="1368147" cy="227528"/>
          </a:xfrm>
          <a:prstGeom prst="rect">
            <a:avLst/>
          </a:prstGeom>
          <a:noFill/>
          <a:ln/>
        </p:spPr>
        <p:txBody>
          <a:bodyPr wrap="none" lIns="0" tIns="0" rIns="0" bIns="0" rtlCol="0" anchor="t"/>
          <a:lstStyle/>
          <a:p>
            <a:pPr algn="l" indent="0" marL="0">
              <a:lnSpc>
                <a:spcPts val="1750"/>
              </a:lnSpc>
              <a:buNone/>
            </a:pPr>
            <a:r>
              <a:rPr lang="en-US" sz="1200" dirty="0">
                <a:solidFill>
                  <a:srgbClr val="000000"/>
                </a:solidFill>
                <a:latin typeface="Manrope" pitchFamily="34" charset="0"/>
                <a:ea typeface="Manrope" pitchFamily="34" charset="-122"/>
                <a:cs typeface="Manrope" pitchFamily="34" charset="-120"/>
              </a:rPr>
              <a:t>SAFE - 8.5S BUFFER</a:t>
            </a:r>
            <a:endParaRPr lang="en-US" sz="1200" dirty="0"/>
          </a:p>
        </p:txBody>
      </p:sp>
      <p:sp>
        <p:nvSpPr>
          <p:cNvPr id="19" name="Shape 14"/>
          <p:cNvSpPr/>
          <p:nvPr/>
        </p:nvSpPr>
        <p:spPr>
          <a:xfrm>
            <a:off x="9626084" y="1598295"/>
            <a:ext cx="4481751" cy="4800957"/>
          </a:xfrm>
          <a:prstGeom prst="roundRect">
            <a:avLst>
              <a:gd name="adj" fmla="val 6183"/>
            </a:avLst>
          </a:prstGeom>
          <a:solidFill>
            <a:srgbClr val="00D9FF"/>
          </a:solidFill>
          <a:ln/>
        </p:spPr>
      </p:sp>
      <p:sp>
        <p:nvSpPr>
          <p:cNvPr id="20" name="Text 15"/>
          <p:cNvSpPr/>
          <p:nvPr/>
        </p:nvSpPr>
        <p:spPr>
          <a:xfrm>
            <a:off x="9818489" y="1761530"/>
            <a:ext cx="2405420" cy="300633"/>
          </a:xfrm>
          <a:prstGeom prst="rect">
            <a:avLst/>
          </a:prstGeom>
          <a:noFill/>
          <a:ln/>
        </p:spPr>
        <p:txBody>
          <a:bodyPr wrap="none" lIns="0" tIns="0" rIns="0" bIns="0" rtlCol="0" anchor="t"/>
          <a:lstStyle/>
          <a:p>
            <a:pPr algn="l" indent="0" marL="0">
              <a:lnSpc>
                <a:spcPts val="2350"/>
              </a:lnSpc>
              <a:buNone/>
            </a:pPr>
            <a:r>
              <a:rPr lang="en-US" sz="1850" dirty="0">
                <a:solidFill>
                  <a:srgbClr val="0C0D0F"/>
                </a:solidFill>
                <a:latin typeface="Inter" pitchFamily="34" charset="0"/>
                <a:ea typeface="Inter" pitchFamily="34" charset="-122"/>
                <a:cs typeface="Inter" pitchFamily="34" charset="-120"/>
              </a:rPr>
              <a:t>Reliability</a:t>
            </a:r>
            <a:endParaRPr lang="en-US" sz="1850" dirty="0"/>
          </a:p>
        </p:txBody>
      </p:sp>
      <p:sp>
        <p:nvSpPr>
          <p:cNvPr id="21" name="Text 16"/>
          <p:cNvSpPr/>
          <p:nvPr/>
        </p:nvSpPr>
        <p:spPr>
          <a:xfrm>
            <a:off x="9818489" y="2225397"/>
            <a:ext cx="4096941" cy="1202650"/>
          </a:xfrm>
          <a:prstGeom prst="rect">
            <a:avLst/>
          </a:prstGeom>
          <a:noFill/>
          <a:ln/>
        </p:spPr>
        <p:txBody>
          <a:bodyPr wrap="none" lIns="0" tIns="0" rIns="0" bIns="0" rtlCol="0" anchor="t"/>
          <a:lstStyle/>
          <a:p>
            <a:pPr algn="l" indent="0" marL="0">
              <a:lnSpc>
                <a:spcPts val="9450"/>
              </a:lnSpc>
              <a:buNone/>
            </a:pPr>
            <a:r>
              <a:rPr lang="en-US" sz="7550" dirty="0">
                <a:solidFill>
                  <a:srgbClr val="0C0D0F"/>
                </a:solidFill>
                <a:latin typeface="Inter" pitchFamily="34" charset="0"/>
                <a:ea typeface="Inter" pitchFamily="34" charset="-122"/>
                <a:cs typeface="Inter" pitchFamily="34" charset="-120"/>
              </a:rPr>
              <a:t>100%</a:t>
            </a:r>
            <a:endParaRPr lang="en-US" sz="7550" dirty="0"/>
          </a:p>
        </p:txBody>
      </p:sp>
      <p:sp>
        <p:nvSpPr>
          <p:cNvPr id="22" name="Text 17"/>
          <p:cNvSpPr/>
          <p:nvPr/>
        </p:nvSpPr>
        <p:spPr>
          <a:xfrm>
            <a:off x="9818489" y="3591282"/>
            <a:ext cx="4096941" cy="284440"/>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Manrope" pitchFamily="34" charset="0"/>
                <a:ea typeface="Manrope" pitchFamily="34" charset="-122"/>
                <a:cs typeface="Manrope" pitchFamily="34" charset="-120"/>
              </a:rPr>
              <a:t>Valid JSON</a:t>
            </a:r>
            <a:endParaRPr lang="en-US" sz="1500" dirty="0"/>
          </a:p>
        </p:txBody>
      </p:sp>
      <p:sp>
        <p:nvSpPr>
          <p:cNvPr id="23" name="Text 18"/>
          <p:cNvSpPr/>
          <p:nvPr/>
        </p:nvSpPr>
        <p:spPr>
          <a:xfrm>
            <a:off x="9818489" y="4038957"/>
            <a:ext cx="4096941" cy="1202650"/>
          </a:xfrm>
          <a:prstGeom prst="rect">
            <a:avLst/>
          </a:prstGeom>
          <a:noFill/>
          <a:ln/>
        </p:spPr>
        <p:txBody>
          <a:bodyPr wrap="none" lIns="0" tIns="0" rIns="0" bIns="0" rtlCol="0" anchor="t"/>
          <a:lstStyle/>
          <a:p>
            <a:pPr algn="l" indent="0" marL="0">
              <a:lnSpc>
                <a:spcPts val="9450"/>
              </a:lnSpc>
              <a:buNone/>
            </a:pPr>
            <a:r>
              <a:rPr lang="en-US" sz="7550" dirty="0">
                <a:solidFill>
                  <a:srgbClr val="0C0D0F"/>
                </a:solidFill>
                <a:latin typeface="Inter" pitchFamily="34" charset="0"/>
                <a:ea typeface="Inter" pitchFamily="34" charset="-122"/>
                <a:cs typeface="Inter" pitchFamily="34" charset="-120"/>
              </a:rPr>
              <a:t>0</a:t>
            </a:r>
            <a:endParaRPr lang="en-US" sz="7550" dirty="0"/>
          </a:p>
        </p:txBody>
      </p:sp>
      <p:sp>
        <p:nvSpPr>
          <p:cNvPr id="24" name="Text 19"/>
          <p:cNvSpPr/>
          <p:nvPr/>
        </p:nvSpPr>
        <p:spPr>
          <a:xfrm>
            <a:off x="9818489" y="5404842"/>
            <a:ext cx="4096941" cy="284440"/>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Manrope" pitchFamily="34" charset="0"/>
                <a:ea typeface="Manrope" pitchFamily="34" charset="-122"/>
                <a:cs typeface="Manrope" pitchFamily="34" charset="-120"/>
              </a:rPr>
              <a:t>Timeouts</a:t>
            </a:r>
            <a:endParaRPr lang="en-US" sz="1500" dirty="0"/>
          </a:p>
        </p:txBody>
      </p:sp>
      <p:sp>
        <p:nvSpPr>
          <p:cNvPr id="25" name="Shape 20"/>
          <p:cNvSpPr/>
          <p:nvPr/>
        </p:nvSpPr>
        <p:spPr>
          <a:xfrm>
            <a:off x="9818489" y="5872877"/>
            <a:ext cx="1391722" cy="342781"/>
          </a:xfrm>
          <a:prstGeom prst="roundRect">
            <a:avLst>
              <a:gd name="adj" fmla="val 40421"/>
            </a:avLst>
          </a:prstGeom>
          <a:solidFill>
            <a:srgbClr val="FFD700"/>
          </a:solidFill>
          <a:ln/>
        </p:spPr>
      </p:sp>
      <p:pic>
        <p:nvPicPr>
          <p:cNvPr id="2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33861" y="5967293"/>
            <a:ext cx="153948" cy="153948"/>
          </a:xfrm>
          <a:prstGeom prst="rect">
            <a:avLst/>
          </a:prstGeom>
        </p:spPr>
      </p:pic>
      <p:sp>
        <p:nvSpPr>
          <p:cNvPr id="27" name="Text 21"/>
          <p:cNvSpPr/>
          <p:nvPr/>
        </p:nvSpPr>
        <p:spPr>
          <a:xfrm>
            <a:off x="10164723" y="5930503"/>
            <a:ext cx="930116" cy="227528"/>
          </a:xfrm>
          <a:prstGeom prst="rect">
            <a:avLst/>
          </a:prstGeom>
          <a:noFill/>
          <a:ln/>
        </p:spPr>
        <p:txBody>
          <a:bodyPr wrap="none" lIns="0" tIns="0" rIns="0" bIns="0" rtlCol="0" anchor="t"/>
          <a:lstStyle/>
          <a:p>
            <a:pPr algn="l" indent="0" marL="0">
              <a:lnSpc>
                <a:spcPts val="1750"/>
              </a:lnSpc>
              <a:buNone/>
            </a:pPr>
            <a:r>
              <a:rPr lang="en-US" sz="1200" dirty="0">
                <a:solidFill>
                  <a:srgbClr val="000000"/>
                </a:solidFill>
                <a:latin typeface="Manrope" pitchFamily="34" charset="0"/>
                <a:ea typeface="Manrope" pitchFamily="34" charset="-122"/>
                <a:cs typeface="Manrope" pitchFamily="34" charset="-120"/>
              </a:rPr>
              <a:t>UNBEATABLE</a:t>
            </a:r>
            <a:endParaRPr lang="en-US" sz="1200" dirty="0"/>
          </a:p>
        </p:txBody>
      </p:sp>
      <p:sp>
        <p:nvSpPr>
          <p:cNvPr id="28" name="Text 22"/>
          <p:cNvSpPr/>
          <p:nvPr/>
        </p:nvSpPr>
        <p:spPr>
          <a:xfrm>
            <a:off x="676037" y="6582847"/>
            <a:ext cx="13278207" cy="355521"/>
          </a:xfrm>
          <a:prstGeom prst="rect">
            <a:avLst/>
          </a:prstGeom>
          <a:noFill/>
          <a:ln/>
        </p:spPr>
        <p:txBody>
          <a:bodyPr wrap="none" lIns="0" tIns="0" rIns="0" bIns="0" rtlCol="0" anchor="t"/>
          <a:lstStyle/>
          <a:p>
            <a:pPr algn="l" indent="0" marL="0">
              <a:lnSpc>
                <a:spcPts val="2800"/>
              </a:lnSpc>
              <a:buNone/>
            </a:pPr>
            <a:r>
              <a:rPr lang="en-US" sz="1850" b="1" i="1" dirty="0">
                <a:solidFill>
                  <a:srgbClr val="55575A"/>
                </a:solidFill>
                <a:latin typeface="Manrope" pitchFamily="34" charset="0"/>
                <a:ea typeface="Manrope" pitchFamily="34" charset="-122"/>
                <a:cs typeface="Manrope" pitchFamily="34" charset="-120"/>
              </a:rPr>
              <a:t>"In a high-stakes tournament, Survival is the First Requirement for Victory."</a:t>
            </a:r>
            <a:endParaRPr lang="en-US" sz="1850" dirty="0"/>
          </a:p>
        </p:txBody>
      </p:sp>
      <p:sp>
        <p:nvSpPr>
          <p:cNvPr id="29" name="Text 23"/>
          <p:cNvSpPr/>
          <p:nvPr/>
        </p:nvSpPr>
        <p:spPr>
          <a:xfrm>
            <a:off x="676037" y="7121962"/>
            <a:ext cx="13278207" cy="355521"/>
          </a:xfrm>
          <a:prstGeom prst="rect">
            <a:avLst/>
          </a:prstGeom>
          <a:noFill/>
          <a:ln/>
        </p:spPr>
        <p:txBody>
          <a:bodyPr wrap="none" lIns="0" tIns="0" rIns="0" bIns="0" rtlCol="0" anchor="t"/>
          <a:lstStyle/>
          <a:p>
            <a:pPr algn="l" indent="0" marL="0">
              <a:lnSpc>
                <a:spcPts val="2800"/>
              </a:lnSpc>
              <a:buNone/>
            </a:pPr>
            <a:r>
              <a:rPr lang="en-US" sz="1850" b="1" i="1" dirty="0">
                <a:solidFill>
                  <a:srgbClr val="55575A"/>
                </a:solidFill>
                <a:latin typeface="Manrope" pitchFamily="34" charset="0"/>
                <a:ea typeface="Manrope" pitchFamily="34" charset="-122"/>
                <a:cs typeface="Manrope" pitchFamily="34" charset="-120"/>
              </a:rPr>
              <a:t>"We engineered a system that trades 'Theoretical Creativity' for 'Guaranteed Execution'."</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2026-02-15T08:10:03Z</dcterms:created>
  <dcterms:modified xsi:type="dcterms:W3CDTF">2026-02-15T08:10:03Z</dcterms:modified>
</cp:coreProperties>
</file>